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06240"/>
            <a:ext cx="12188952" cy="73152"/>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463040"/>
            <a:ext cx="10332720" cy="1280160"/>
          </a:xfrm>
          <a:prstGeom prst="rect">
            <a:avLst/>
          </a:prstGeom>
          <a:noFill/>
        </p:spPr>
        <p:txBody>
          <a:bodyPr wrap="square">
            <a:spAutoFit/>
          </a:bodyPr>
          <a:lstStyle/>
          <a:p>
            <a:pPr algn="ctr"/>
            <a:r>
              <a:rPr sz="7200" b="1" i="0">
                <a:solidFill>
                  <a:srgbClr val="FFFFFF"/>
                </a:solidFill>
              </a:rPr>
              <a:t>NXProject</a:t>
            </a:r>
          </a:p>
        </p:txBody>
      </p:sp>
      <p:sp>
        <p:nvSpPr>
          <p:cNvPr id="5" name="TextBox 4"/>
          <p:cNvSpPr txBox="1"/>
          <p:nvPr/>
        </p:nvSpPr>
        <p:spPr>
          <a:xfrm>
            <a:off x="914400" y="2743200"/>
            <a:ext cx="10332720" cy="640080"/>
          </a:xfrm>
          <a:prstGeom prst="rect">
            <a:avLst/>
          </a:prstGeom>
          <a:noFill/>
        </p:spPr>
        <p:txBody>
          <a:bodyPr wrap="square">
            <a:spAutoFit/>
          </a:bodyPr>
          <a:lstStyle/>
          <a:p>
            <a:pPr algn="ctr"/>
            <a:r>
              <a:rPr sz="2400" b="0" i="0">
                <a:solidFill>
                  <a:srgbClr val="D6E4F7"/>
                </a:solidFill>
              </a:rPr>
              <a:t>Intelligent planning integrated with Azure DevOps</a:t>
            </a:r>
          </a:p>
        </p:txBody>
      </p:sp>
      <p:sp>
        <p:nvSpPr>
          <p:cNvPr id="6" name="TextBox 5"/>
          <p:cNvSpPr txBox="1"/>
          <p:nvPr/>
        </p:nvSpPr>
        <p:spPr>
          <a:xfrm>
            <a:off x="914400" y="3474720"/>
            <a:ext cx="10332720" cy="457200"/>
          </a:xfrm>
          <a:prstGeom prst="rect">
            <a:avLst/>
          </a:prstGeom>
          <a:noFill/>
        </p:spPr>
        <p:txBody>
          <a:bodyPr wrap="square">
            <a:spAutoFit/>
          </a:bodyPr>
          <a:lstStyle/>
          <a:p>
            <a:pPr algn="ctr"/>
            <a:r>
              <a:rPr sz="1600" b="0" i="1">
                <a:solidFill>
                  <a:srgbClr val="B0C8F0"/>
                </a:solidFill>
              </a:rPr>
              <a:t>From estimates to schedule — without leaving the technical backlog behind.</a:t>
            </a:r>
          </a:p>
        </p:txBody>
      </p:sp>
      <p:sp>
        <p:nvSpPr>
          <p:cNvPr id="7" name="TextBox 6"/>
          <p:cNvSpPr txBox="1"/>
          <p:nvPr/>
        </p:nvSpPr>
        <p:spPr>
          <a:xfrm>
            <a:off x="914400" y="6126480"/>
            <a:ext cx="10332720" cy="365760"/>
          </a:xfrm>
          <a:prstGeom prst="rect">
            <a:avLst/>
          </a:prstGeom>
          <a:noFill/>
        </p:spPr>
        <p:txBody>
          <a:bodyPr wrap="square">
            <a:spAutoFit/>
          </a:bodyPr>
          <a:lstStyle/>
          <a:p>
            <a:pPr algn="ctr"/>
            <a:r>
              <a:rPr sz="1100" b="0" i="0">
                <a:solidFill>
                  <a:srgbClr val="7A9AC8"/>
                </a:solidFill>
              </a:rPr>
              <a:t>Nexus XData Tecnologia  •  nexusxdata.com.br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solidFill>
              <a:srgbClr val="F4F6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64008" cy="5669280"/>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0972800" cy="731520"/>
          </a:xfrm>
          <a:prstGeom prst="rect">
            <a:avLst/>
          </a:prstGeom>
          <a:noFill/>
        </p:spPr>
        <p:txBody>
          <a:bodyPr wrap="square">
            <a:spAutoFit/>
          </a:bodyPr>
          <a:lstStyle/>
          <a:p>
            <a:pPr algn="l"/>
            <a:r>
              <a:rPr sz="2800" b="1" i="0">
                <a:solidFill>
                  <a:srgbClr val="FFFFFF"/>
                </a:solidFill>
              </a:rPr>
              <a:t>The problem NXProject solves</a:t>
            </a:r>
          </a:p>
        </p:txBody>
      </p:sp>
      <p:sp>
        <p:nvSpPr>
          <p:cNvPr id="6" name="Rectangle 5"/>
          <p:cNvSpPr/>
          <p:nvPr/>
        </p:nvSpPr>
        <p:spPr>
          <a:xfrm>
            <a:off x="457200" y="1554480"/>
            <a:ext cx="5486400" cy="2011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691640"/>
            <a:ext cx="5212080" cy="1737360"/>
          </a:xfrm>
          <a:prstGeom prst="rect">
            <a:avLst/>
          </a:prstGeom>
          <a:noFill/>
        </p:spPr>
        <p:txBody>
          <a:bodyPr wrap="square">
            <a:spAutoFit/>
          </a:bodyPr>
          <a:lstStyle/>
          <a:p>
            <a:pPr algn="l"/>
            <a:r>
              <a:rPr sz="1300" b="1">
                <a:solidFill>
                  <a:srgbClr val="1A3A6B"/>
                </a:solidFill>
              </a:rPr>
              <a:t>📋  Rich backlog, missing schedule</a:t>
            </a:r>
          </a:p>
          <a:p>
            <a:pPr algn="l">
              <a:spcBef>
                <a:spcPts val="600"/>
              </a:spcBef>
            </a:pPr>
            <a:r>
              <a:rPr sz="1100" b="0" i="0">
                <a:solidFill>
                  <a:srgbClr val="555F6E"/>
                </a:solidFill>
              </a:rPr>
              <a:t>The technical team works in Azure DevOps, but management cannot
see dates, dependencies and allocation in one consolidated view.</a:t>
            </a:r>
          </a:p>
        </p:txBody>
      </p:sp>
      <p:sp>
        <p:nvSpPr>
          <p:cNvPr id="8" name="Rectangle 7"/>
          <p:cNvSpPr/>
          <p:nvPr/>
        </p:nvSpPr>
        <p:spPr>
          <a:xfrm>
            <a:off x="6309360" y="1554480"/>
            <a:ext cx="5486400" cy="2011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3952" y="1691640"/>
            <a:ext cx="5212080" cy="1737360"/>
          </a:xfrm>
          <a:prstGeom prst="rect">
            <a:avLst/>
          </a:prstGeom>
          <a:noFill/>
        </p:spPr>
        <p:txBody>
          <a:bodyPr wrap="square">
            <a:spAutoFit/>
          </a:bodyPr>
          <a:lstStyle/>
          <a:p>
            <a:pPr algn="l"/>
            <a:r>
              <a:rPr sz="1300" b="1">
                <a:solidFill>
                  <a:srgbClr val="1A3A6B"/>
                </a:solidFill>
              </a:rPr>
              <a:t>⚠️  Rework and parallel spreadsheets</a:t>
            </a:r>
          </a:p>
          <a:p>
            <a:pPr algn="l">
              <a:spcBef>
                <a:spcPts val="600"/>
              </a:spcBef>
            </a:pPr>
            <a:r>
              <a:rPr sz="1100" b="0" i="0">
                <a:solidFill>
                  <a:srgbClr val="555F6E"/>
                </a:solidFill>
              </a:rPr>
              <a:t>Managers maintain Excel sheets manually, out of sync with what the
team is actually doing in the backlog.</a:t>
            </a:r>
          </a:p>
        </p:txBody>
      </p:sp>
      <p:sp>
        <p:nvSpPr>
          <p:cNvPr id="10" name="Rectangle 9"/>
          <p:cNvSpPr/>
          <p:nvPr/>
        </p:nvSpPr>
        <p:spPr>
          <a:xfrm>
            <a:off x="457200" y="3840480"/>
            <a:ext cx="5486400" cy="2011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3977640"/>
            <a:ext cx="5212080" cy="1737360"/>
          </a:xfrm>
          <a:prstGeom prst="rect">
            <a:avLst/>
          </a:prstGeom>
          <a:noFill/>
        </p:spPr>
        <p:txBody>
          <a:bodyPr wrap="square">
            <a:spAutoFit/>
          </a:bodyPr>
          <a:lstStyle/>
          <a:p>
            <a:pPr algn="l"/>
            <a:r>
              <a:rPr sz="1300" b="1">
                <a:solidFill>
                  <a:srgbClr val="1A3A6B"/>
                </a:solidFill>
              </a:rPr>
              <a:t>🔗  Lack of traceability between planning and execution</a:t>
            </a:r>
          </a:p>
          <a:p>
            <a:pPr algn="l">
              <a:spcBef>
                <a:spcPts val="600"/>
              </a:spcBef>
            </a:pPr>
            <a:r>
              <a:rPr sz="1100" b="0" i="0">
                <a:solidFill>
                  <a:srgbClr val="555F6E"/>
                </a:solidFill>
              </a:rPr>
              <a:t>There is no direct link between the manager's estimate and the
developer's work item — every change requires double updates.</a:t>
            </a:r>
          </a:p>
        </p:txBody>
      </p:sp>
      <p:sp>
        <p:nvSpPr>
          <p:cNvPr id="12" name="Rectangle 11"/>
          <p:cNvSpPr/>
          <p:nvPr/>
        </p:nvSpPr>
        <p:spPr>
          <a:xfrm>
            <a:off x="6309360" y="3840480"/>
            <a:ext cx="5486400" cy="201168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3977640"/>
            <a:ext cx="5212080" cy="1737360"/>
          </a:xfrm>
          <a:prstGeom prst="rect">
            <a:avLst/>
          </a:prstGeom>
          <a:noFill/>
        </p:spPr>
        <p:txBody>
          <a:bodyPr wrap="square">
            <a:spAutoFit/>
          </a:bodyPr>
          <a:lstStyle/>
          <a:p>
            <a:pPr algn="l"/>
            <a:r>
              <a:rPr sz="1300" b="1">
                <a:solidFill>
                  <a:srgbClr val="1A3A6B"/>
                </a:solidFill>
              </a:rPr>
              <a:t>📅  Hard to replan quickly</a:t>
            </a:r>
          </a:p>
          <a:p>
            <a:pPr algn="l">
              <a:spcBef>
                <a:spcPts val="600"/>
              </a:spcBef>
            </a:pPr>
            <a:r>
              <a:rPr sz="1100" b="0" i="0">
                <a:solidFill>
                  <a:srgbClr val="555F6E"/>
                </a:solidFill>
              </a:rPr>
              <a:t>When a sprint slips, recalculating all dependencies and dates
manually is slow and error-prone.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solidFill>
              <a:srgbClr val="F4F6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64008" cy="5669280"/>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0972800" cy="731520"/>
          </a:xfrm>
          <a:prstGeom prst="rect">
            <a:avLst/>
          </a:prstGeom>
          <a:noFill/>
        </p:spPr>
        <p:txBody>
          <a:bodyPr wrap="square">
            <a:spAutoFit/>
          </a:bodyPr>
          <a:lstStyle/>
          <a:p>
            <a:pPr algn="l"/>
            <a:r>
              <a:rPr sz="2800" b="1" i="0">
                <a:solidFill>
                  <a:srgbClr val="FFFFFF"/>
                </a:solidFill>
              </a:rPr>
              <a:t>What NXProject is</a:t>
            </a:r>
          </a:p>
        </p:txBody>
      </p:sp>
      <p:sp>
        <p:nvSpPr>
          <p:cNvPr id="6" name="Rectangle 5"/>
          <p:cNvSpPr/>
          <p:nvPr/>
        </p:nvSpPr>
        <p:spPr>
          <a:xfrm>
            <a:off x="457200" y="1371600"/>
            <a:ext cx="11247120" cy="1371600"/>
          </a:xfrm>
          <a:prstGeom prst="rect">
            <a:avLst/>
          </a:prstGeom>
          <a:solidFill>
            <a:srgbClr val="2B579A"/>
          </a:solidFill>
          <a:ln>
            <a:solidFill>
              <a:srgbClr val="2B57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508760"/>
            <a:ext cx="10698480" cy="1097280"/>
          </a:xfrm>
          <a:prstGeom prst="rect">
            <a:avLst/>
          </a:prstGeom>
          <a:noFill/>
        </p:spPr>
        <p:txBody>
          <a:bodyPr wrap="square">
            <a:spAutoFit/>
          </a:bodyPr>
          <a:lstStyle/>
          <a:p>
            <a:pPr algn="ctr"/>
            <a:r>
              <a:rPr sz="1400" b="0" i="0">
                <a:solidFill>
                  <a:srgbClr val="FFFFFF"/>
                </a:solidFill>
              </a:rPr>
              <a:t>A planning layer on top of Azure DevOps that turns the technical backlog into a manageable schedule — with dates, dependencies, Gantt, resource allocation and bidirectional traceability — without changing the technical team's workflow.</a:t>
            </a:r>
          </a:p>
        </p:txBody>
      </p:sp>
      <p:sp>
        <p:nvSpPr>
          <p:cNvPr id="8" name="Rectangle 7"/>
          <p:cNvSpPr/>
          <p:nvPr/>
        </p:nvSpPr>
        <p:spPr>
          <a:xfrm>
            <a:off x="182880" y="2971800"/>
            <a:ext cx="1874519" cy="3474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2880" y="3154680"/>
            <a:ext cx="1874519" cy="457200"/>
          </a:xfrm>
          <a:prstGeom prst="rect">
            <a:avLst/>
          </a:prstGeom>
          <a:noFill/>
        </p:spPr>
        <p:txBody>
          <a:bodyPr wrap="square">
            <a:spAutoFit/>
          </a:bodyPr>
          <a:lstStyle/>
          <a:p>
            <a:pPr algn="ctr"/>
            <a:r>
              <a:rPr sz="2600" b="0" i="0">
                <a:solidFill>
                  <a:srgbClr val="2D2D2D"/>
                </a:solidFill>
              </a:rPr>
              <a:t>🗓️</a:t>
            </a:r>
          </a:p>
        </p:txBody>
      </p:sp>
      <p:sp>
        <p:nvSpPr>
          <p:cNvPr id="10" name="TextBox 9"/>
          <p:cNvSpPr txBox="1"/>
          <p:nvPr/>
        </p:nvSpPr>
        <p:spPr>
          <a:xfrm>
            <a:off x="274320" y="3657600"/>
            <a:ext cx="1691639" cy="685800"/>
          </a:xfrm>
          <a:prstGeom prst="rect">
            <a:avLst/>
          </a:prstGeom>
          <a:noFill/>
        </p:spPr>
        <p:txBody>
          <a:bodyPr wrap="square">
            <a:spAutoFit/>
          </a:bodyPr>
          <a:lstStyle/>
          <a:p>
            <a:pPr algn="ctr"/>
            <a:r>
              <a:rPr sz="1300" b="1" i="0">
                <a:solidFill>
                  <a:srgbClr val="1A3A6B"/>
                </a:solidFill>
              </a:rPr>
              <a:t>Automatic
schedule</a:t>
            </a:r>
          </a:p>
        </p:txBody>
      </p:sp>
      <p:sp>
        <p:nvSpPr>
          <p:cNvPr id="11" name="TextBox 10"/>
          <p:cNvSpPr txBox="1"/>
          <p:nvPr/>
        </p:nvSpPr>
        <p:spPr>
          <a:xfrm>
            <a:off x="320040" y="4434840"/>
            <a:ext cx="1600199" cy="1737360"/>
          </a:xfrm>
          <a:prstGeom prst="rect">
            <a:avLst/>
          </a:prstGeom>
          <a:noFill/>
        </p:spPr>
        <p:txBody>
          <a:bodyPr wrap="square">
            <a:spAutoFit/>
          </a:bodyPr>
          <a:lstStyle/>
          <a:p>
            <a:pPr algn="ctr"/>
            <a:r>
              <a:rPr sz="1050" b="0" i="0">
                <a:solidFill>
                  <a:srgbClr val="555F6E"/>
                </a:solidFill>
              </a:rPr>
              <a:t>Dates calculated from duration, work calendar, holidays and predecessors.</a:t>
            </a:r>
          </a:p>
        </p:txBody>
      </p:sp>
      <p:sp>
        <p:nvSpPr>
          <p:cNvPr id="12" name="Rectangle 11"/>
          <p:cNvSpPr/>
          <p:nvPr/>
        </p:nvSpPr>
        <p:spPr>
          <a:xfrm>
            <a:off x="2167128" y="2971800"/>
            <a:ext cx="1874519" cy="3474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67128" y="3154680"/>
            <a:ext cx="1874519" cy="457200"/>
          </a:xfrm>
          <a:prstGeom prst="rect">
            <a:avLst/>
          </a:prstGeom>
          <a:noFill/>
        </p:spPr>
        <p:txBody>
          <a:bodyPr wrap="square">
            <a:spAutoFit/>
          </a:bodyPr>
          <a:lstStyle/>
          <a:p>
            <a:pPr algn="ctr"/>
            <a:r>
              <a:rPr sz="2600" b="0" i="0">
                <a:solidFill>
                  <a:srgbClr val="2D2D2D"/>
                </a:solidFill>
              </a:rPr>
              <a:t>🔗</a:t>
            </a:r>
          </a:p>
        </p:txBody>
      </p:sp>
      <p:sp>
        <p:nvSpPr>
          <p:cNvPr id="14" name="TextBox 13"/>
          <p:cNvSpPr txBox="1"/>
          <p:nvPr/>
        </p:nvSpPr>
        <p:spPr>
          <a:xfrm>
            <a:off x="2258568" y="3657600"/>
            <a:ext cx="1691639" cy="685800"/>
          </a:xfrm>
          <a:prstGeom prst="rect">
            <a:avLst/>
          </a:prstGeom>
          <a:noFill/>
        </p:spPr>
        <p:txBody>
          <a:bodyPr wrap="square">
            <a:spAutoFit/>
          </a:bodyPr>
          <a:lstStyle/>
          <a:p>
            <a:pPr algn="ctr"/>
            <a:r>
              <a:rPr sz="1300" b="1" i="0">
                <a:solidFill>
                  <a:srgbClr val="1A3A6B"/>
                </a:solidFill>
              </a:rPr>
              <a:t>Bidirectional
integration</a:t>
            </a:r>
          </a:p>
        </p:txBody>
      </p:sp>
      <p:sp>
        <p:nvSpPr>
          <p:cNvPr id="15" name="TextBox 14"/>
          <p:cNvSpPr txBox="1"/>
          <p:nvPr/>
        </p:nvSpPr>
        <p:spPr>
          <a:xfrm>
            <a:off x="2304288" y="4434840"/>
            <a:ext cx="1600199" cy="1737360"/>
          </a:xfrm>
          <a:prstGeom prst="rect">
            <a:avLst/>
          </a:prstGeom>
          <a:noFill/>
        </p:spPr>
        <p:txBody>
          <a:bodyPr wrap="square">
            <a:spAutoFit/>
          </a:bodyPr>
          <a:lstStyle/>
          <a:p>
            <a:pPr algn="ctr"/>
            <a:r>
              <a:rPr sz="1050" b="0" i="0">
                <a:solidFill>
                  <a:srgbClr val="555F6E"/>
                </a:solidFill>
              </a:rPr>
              <a:t>Imports and syncs with Azure DevOps: work items, sprints, owners and estimates.</a:t>
            </a:r>
          </a:p>
        </p:txBody>
      </p:sp>
      <p:sp>
        <p:nvSpPr>
          <p:cNvPr id="16" name="Rectangle 15"/>
          <p:cNvSpPr/>
          <p:nvPr/>
        </p:nvSpPr>
        <p:spPr>
          <a:xfrm>
            <a:off x="4151376" y="2971800"/>
            <a:ext cx="1874519" cy="3474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51376" y="3154680"/>
            <a:ext cx="1874519" cy="457200"/>
          </a:xfrm>
          <a:prstGeom prst="rect">
            <a:avLst/>
          </a:prstGeom>
          <a:noFill/>
        </p:spPr>
        <p:txBody>
          <a:bodyPr wrap="square">
            <a:spAutoFit/>
          </a:bodyPr>
          <a:lstStyle/>
          <a:p>
            <a:pPr algn="ctr"/>
            <a:r>
              <a:rPr sz="2600" b="0" i="0">
                <a:solidFill>
                  <a:srgbClr val="2D2D2D"/>
                </a:solidFill>
              </a:rPr>
              <a:t>📊</a:t>
            </a:r>
          </a:p>
        </p:txBody>
      </p:sp>
      <p:sp>
        <p:nvSpPr>
          <p:cNvPr id="18" name="TextBox 17"/>
          <p:cNvSpPr txBox="1"/>
          <p:nvPr/>
        </p:nvSpPr>
        <p:spPr>
          <a:xfrm>
            <a:off x="4242816" y="3657600"/>
            <a:ext cx="1691639" cy="685800"/>
          </a:xfrm>
          <a:prstGeom prst="rect">
            <a:avLst/>
          </a:prstGeom>
          <a:noFill/>
        </p:spPr>
        <p:txBody>
          <a:bodyPr wrap="square">
            <a:spAutoFit/>
          </a:bodyPr>
          <a:lstStyle/>
          <a:p>
            <a:pPr algn="ctr"/>
            <a:r>
              <a:rPr sz="1300" b="1" i="0">
                <a:solidFill>
                  <a:srgbClr val="1A3A6B"/>
                </a:solidFill>
              </a:rPr>
              <a:t>Interactive
Gantt</a:t>
            </a:r>
          </a:p>
        </p:txBody>
      </p:sp>
      <p:sp>
        <p:nvSpPr>
          <p:cNvPr id="19" name="TextBox 18"/>
          <p:cNvSpPr txBox="1"/>
          <p:nvPr/>
        </p:nvSpPr>
        <p:spPr>
          <a:xfrm>
            <a:off x="4288536" y="4434840"/>
            <a:ext cx="1600199" cy="1737360"/>
          </a:xfrm>
          <a:prstGeom prst="rect">
            <a:avLst/>
          </a:prstGeom>
          <a:noFill/>
        </p:spPr>
        <p:txBody>
          <a:bodyPr wrap="square">
            <a:spAutoFit/>
          </a:bodyPr>
          <a:lstStyle/>
          <a:p>
            <a:pPr algn="ctr"/>
            <a:r>
              <a:rPr sz="1050" b="0" i="0">
                <a:solidFill>
                  <a:srgbClr val="555F6E"/>
                </a:solidFill>
              </a:rPr>
              <a:t>Bars, dependencies, milestones, critical path and baseline, with adjustable zoom.</a:t>
            </a:r>
          </a:p>
        </p:txBody>
      </p:sp>
      <p:sp>
        <p:nvSpPr>
          <p:cNvPr id="20" name="Rectangle 19"/>
          <p:cNvSpPr/>
          <p:nvPr/>
        </p:nvSpPr>
        <p:spPr>
          <a:xfrm>
            <a:off x="6135624" y="2971800"/>
            <a:ext cx="1874519" cy="3474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35624" y="3154680"/>
            <a:ext cx="1874519" cy="457200"/>
          </a:xfrm>
          <a:prstGeom prst="rect">
            <a:avLst/>
          </a:prstGeom>
          <a:noFill/>
        </p:spPr>
        <p:txBody>
          <a:bodyPr wrap="square">
            <a:spAutoFit/>
          </a:bodyPr>
          <a:lstStyle/>
          <a:p>
            <a:pPr algn="ctr"/>
            <a:r>
              <a:rPr sz="2600" b="0" i="0">
                <a:solidFill>
                  <a:srgbClr val="2D2D2D"/>
                </a:solidFill>
              </a:rPr>
              <a:t>🗂️</a:t>
            </a:r>
          </a:p>
        </p:txBody>
      </p:sp>
      <p:sp>
        <p:nvSpPr>
          <p:cNvPr id="22" name="TextBox 21"/>
          <p:cNvSpPr txBox="1"/>
          <p:nvPr/>
        </p:nvSpPr>
        <p:spPr>
          <a:xfrm>
            <a:off x="6227064" y="3657600"/>
            <a:ext cx="1691639" cy="685800"/>
          </a:xfrm>
          <a:prstGeom prst="rect">
            <a:avLst/>
          </a:prstGeom>
          <a:noFill/>
        </p:spPr>
        <p:txBody>
          <a:bodyPr wrap="square">
            <a:spAutoFit/>
          </a:bodyPr>
          <a:lstStyle/>
          <a:p>
            <a:pPr algn="ctr"/>
            <a:r>
              <a:rPr sz="1300" b="1" i="0">
                <a:solidFill>
                  <a:srgbClr val="1A3A6B"/>
                </a:solidFill>
              </a:rPr>
              <a:t>Execution
TaskBoard</a:t>
            </a:r>
          </a:p>
        </p:txBody>
      </p:sp>
      <p:sp>
        <p:nvSpPr>
          <p:cNvPr id="23" name="TextBox 22"/>
          <p:cNvSpPr txBox="1"/>
          <p:nvPr/>
        </p:nvSpPr>
        <p:spPr>
          <a:xfrm>
            <a:off x="6272784" y="4434840"/>
            <a:ext cx="1600199" cy="1737360"/>
          </a:xfrm>
          <a:prstGeom prst="rect">
            <a:avLst/>
          </a:prstGeom>
          <a:noFill/>
        </p:spPr>
        <p:txBody>
          <a:bodyPr wrap="square">
            <a:spAutoFit/>
          </a:bodyPr>
          <a:lstStyle/>
          <a:p>
            <a:pPr algn="ctr"/>
            <a:r>
              <a:rPr sz="1050" b="0" i="0">
                <a:solidFill>
                  <a:srgbClr val="555F6E"/>
                </a:solidFill>
              </a:rPr>
              <a:t>Sprint Tasks by person and state; the team runs the day and the board writes to DevOps.</a:t>
            </a:r>
          </a:p>
        </p:txBody>
      </p:sp>
      <p:sp>
        <p:nvSpPr>
          <p:cNvPr id="24" name="Rectangle 23"/>
          <p:cNvSpPr/>
          <p:nvPr/>
        </p:nvSpPr>
        <p:spPr>
          <a:xfrm>
            <a:off x="8119871" y="2971800"/>
            <a:ext cx="1874519" cy="3474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19871" y="3154680"/>
            <a:ext cx="1874519" cy="457200"/>
          </a:xfrm>
          <a:prstGeom prst="rect">
            <a:avLst/>
          </a:prstGeom>
          <a:noFill/>
        </p:spPr>
        <p:txBody>
          <a:bodyPr wrap="square">
            <a:spAutoFit/>
          </a:bodyPr>
          <a:lstStyle/>
          <a:p>
            <a:pPr algn="ctr"/>
            <a:r>
              <a:rPr sz="2600" b="0" i="0">
                <a:solidFill>
                  <a:srgbClr val="2D2D2D"/>
                </a:solidFill>
              </a:rPr>
              <a:t>👥</a:t>
            </a:r>
          </a:p>
        </p:txBody>
      </p:sp>
      <p:sp>
        <p:nvSpPr>
          <p:cNvPr id="26" name="TextBox 25"/>
          <p:cNvSpPr txBox="1"/>
          <p:nvPr/>
        </p:nvSpPr>
        <p:spPr>
          <a:xfrm>
            <a:off x="8211311" y="3657600"/>
            <a:ext cx="1691639" cy="685800"/>
          </a:xfrm>
          <a:prstGeom prst="rect">
            <a:avLst/>
          </a:prstGeom>
          <a:noFill/>
        </p:spPr>
        <p:txBody>
          <a:bodyPr wrap="square">
            <a:spAutoFit/>
          </a:bodyPr>
          <a:lstStyle/>
          <a:p>
            <a:pPr algn="ctr"/>
            <a:r>
              <a:rPr sz="1300" b="1" i="0">
                <a:solidFill>
                  <a:srgbClr val="1A3A6B"/>
                </a:solidFill>
              </a:rPr>
              <a:t>Resource
management</a:t>
            </a:r>
          </a:p>
        </p:txBody>
      </p:sp>
      <p:sp>
        <p:nvSpPr>
          <p:cNvPr id="27" name="TextBox 26"/>
          <p:cNvSpPr txBox="1"/>
          <p:nvPr/>
        </p:nvSpPr>
        <p:spPr>
          <a:xfrm>
            <a:off x="8257031" y="4434840"/>
            <a:ext cx="1600199" cy="1737360"/>
          </a:xfrm>
          <a:prstGeom prst="rect">
            <a:avLst/>
          </a:prstGeom>
          <a:noFill/>
        </p:spPr>
        <p:txBody>
          <a:bodyPr wrap="square">
            <a:spAutoFit/>
          </a:bodyPr>
          <a:lstStyle/>
          <a:p>
            <a:pPr algn="ctr"/>
            <a:r>
              <a:rPr sz="1050" b="0" i="0">
                <a:solidFill>
                  <a:srgbClr val="555F6E"/>
                </a:solidFill>
              </a:rPr>
              <a:t>Allocation by person, overload detection, allocation map and cost per resource.</a:t>
            </a:r>
          </a:p>
        </p:txBody>
      </p:sp>
      <p:sp>
        <p:nvSpPr>
          <p:cNvPr id="28" name="Rectangle 27"/>
          <p:cNvSpPr/>
          <p:nvPr/>
        </p:nvSpPr>
        <p:spPr>
          <a:xfrm>
            <a:off x="10104119" y="2971800"/>
            <a:ext cx="1874519" cy="347472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104119" y="3154680"/>
            <a:ext cx="1874519" cy="457200"/>
          </a:xfrm>
          <a:prstGeom prst="rect">
            <a:avLst/>
          </a:prstGeom>
          <a:noFill/>
        </p:spPr>
        <p:txBody>
          <a:bodyPr wrap="square">
            <a:spAutoFit/>
          </a:bodyPr>
          <a:lstStyle/>
          <a:p>
            <a:pPr algn="ctr"/>
            <a:r>
              <a:rPr sz="2600" b="0" i="0">
                <a:solidFill>
                  <a:srgbClr val="2D2D2D"/>
                </a:solidFill>
              </a:rPr>
              <a:t>🤖</a:t>
            </a:r>
          </a:p>
        </p:txBody>
      </p:sp>
      <p:sp>
        <p:nvSpPr>
          <p:cNvPr id="30" name="TextBox 29"/>
          <p:cNvSpPr txBox="1"/>
          <p:nvPr/>
        </p:nvSpPr>
        <p:spPr>
          <a:xfrm>
            <a:off x="10195559" y="3657600"/>
            <a:ext cx="1691639" cy="685800"/>
          </a:xfrm>
          <a:prstGeom prst="rect">
            <a:avLst/>
          </a:prstGeom>
          <a:noFill/>
        </p:spPr>
        <p:txBody>
          <a:bodyPr wrap="square">
            <a:spAutoFit/>
          </a:bodyPr>
          <a:lstStyle/>
          <a:p>
            <a:pPr algn="ctr"/>
            <a:r>
              <a:rPr sz="1300" b="1" i="0">
                <a:solidFill>
                  <a:srgbClr val="1A3A6B"/>
                </a:solidFill>
              </a:rPr>
              <a:t>Local or
cloud AI</a:t>
            </a:r>
          </a:p>
        </p:txBody>
      </p:sp>
      <p:sp>
        <p:nvSpPr>
          <p:cNvPr id="31" name="TextBox 30"/>
          <p:cNvSpPr txBox="1"/>
          <p:nvPr/>
        </p:nvSpPr>
        <p:spPr>
          <a:xfrm>
            <a:off x="10241279" y="4434840"/>
            <a:ext cx="1600199" cy="1737360"/>
          </a:xfrm>
          <a:prstGeom prst="rect">
            <a:avLst/>
          </a:prstGeom>
          <a:noFill/>
        </p:spPr>
        <p:txBody>
          <a:bodyPr wrap="square">
            <a:spAutoFit/>
          </a:bodyPr>
          <a:lstStyle/>
          <a:p>
            <a:pPr algn="ctr"/>
            <a:r>
              <a:rPr sz="1050" b="0" i="0">
                <a:solidFill>
                  <a:srgbClr val="555F6E"/>
                </a:solidFill>
              </a:rPr>
              <a:t>Suggests task structures; the local model runs on your machine, sending no data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solidFill>
              <a:srgbClr val="F4F6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64008" cy="5669280"/>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0972800" cy="731520"/>
          </a:xfrm>
          <a:prstGeom prst="rect">
            <a:avLst/>
          </a:prstGeom>
          <a:noFill/>
        </p:spPr>
        <p:txBody>
          <a:bodyPr wrap="square">
            <a:spAutoFit/>
          </a:bodyPr>
          <a:lstStyle/>
          <a:p>
            <a:pPr algn="l"/>
            <a:r>
              <a:rPr sz="2800" b="1" i="0">
                <a:solidFill>
                  <a:srgbClr val="FFFFFF"/>
                </a:solidFill>
              </a:rPr>
              <a:t>Planning philosophy: degrees of freedom</a:t>
            </a:r>
          </a:p>
        </p:txBody>
      </p:sp>
      <p:sp>
        <p:nvSpPr>
          <p:cNvPr id="6" name="Rectangle 5"/>
          <p:cNvSpPr/>
          <p:nvPr/>
        </p:nvSpPr>
        <p:spPr>
          <a:xfrm>
            <a:off x="457200" y="1371600"/>
            <a:ext cx="11247120" cy="1234440"/>
          </a:xfrm>
          <a:prstGeom prst="rect">
            <a:avLst/>
          </a:prstGeom>
          <a:solidFill>
            <a:srgbClr val="2B579A"/>
          </a:solidFill>
          <a:ln>
            <a:solidFill>
              <a:srgbClr val="2B57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81328"/>
            <a:ext cx="10698480" cy="1005840"/>
          </a:xfrm>
          <a:prstGeom prst="rect">
            <a:avLst/>
          </a:prstGeom>
          <a:noFill/>
        </p:spPr>
        <p:txBody>
          <a:bodyPr wrap="square">
            <a:spAutoFit/>
          </a:bodyPr>
          <a:lstStyle/>
          <a:p>
            <a:pPr algn="ctr"/>
            <a:r>
              <a:rPr sz="1400" b="0" i="0">
                <a:solidFill>
                  <a:srgbClr val="FFFFFF"/>
                </a:solidFill>
              </a:rPr>
              <a:t>NXProject plans down to the Story level. Tasks can be pulled into the schedule, but the intent is for the team to detail and create them during execution, supported by the TaskBoard — which brings more agility to the project.</a:t>
            </a:r>
          </a:p>
        </p:txBody>
      </p:sp>
      <p:sp>
        <p:nvSpPr>
          <p:cNvPr id="8" name="TextBox 7"/>
          <p:cNvSpPr txBox="1"/>
          <p:nvPr/>
        </p:nvSpPr>
        <p:spPr>
          <a:xfrm>
            <a:off x="457200" y="2788920"/>
            <a:ext cx="11247120" cy="548640"/>
          </a:xfrm>
          <a:prstGeom prst="rect">
            <a:avLst/>
          </a:prstGeom>
          <a:noFill/>
        </p:spPr>
        <p:txBody>
          <a:bodyPr wrap="square">
            <a:spAutoFit/>
          </a:bodyPr>
          <a:lstStyle/>
          <a:p>
            <a:pPr algn="ctr"/>
            <a:r>
              <a:rPr sz="1200" b="0" i="1">
                <a:solidFill>
                  <a:srgbClr val="555F6E"/>
                </a:solidFill>
              </a:rPr>
              <a:t>Inspired by the mathematical concept of degrees of freedom: define the boundaries of the system without constraining the movement inside them.</a:t>
            </a:r>
          </a:p>
        </p:txBody>
      </p:sp>
      <p:sp>
        <p:nvSpPr>
          <p:cNvPr id="9" name="Rectangle 8"/>
          <p:cNvSpPr/>
          <p:nvPr/>
        </p:nvSpPr>
        <p:spPr>
          <a:xfrm>
            <a:off x="457200" y="3611880"/>
            <a:ext cx="3566160" cy="2377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3611880"/>
            <a:ext cx="3566160" cy="54864"/>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840480"/>
            <a:ext cx="3200400" cy="457200"/>
          </a:xfrm>
          <a:prstGeom prst="rect">
            <a:avLst/>
          </a:prstGeom>
          <a:noFill/>
        </p:spPr>
        <p:txBody>
          <a:bodyPr wrap="square">
            <a:spAutoFit/>
          </a:bodyPr>
          <a:lstStyle/>
          <a:p>
            <a:pPr algn="ctr"/>
            <a:r>
              <a:rPr sz="1300" b="1" i="0">
                <a:solidFill>
                  <a:srgbClr val="1A3A6B"/>
                </a:solidFill>
              </a:rPr>
              <a:t>Management sets the boundaries</a:t>
            </a:r>
          </a:p>
        </p:txBody>
      </p:sp>
      <p:sp>
        <p:nvSpPr>
          <p:cNvPr id="12" name="TextBox 11"/>
          <p:cNvSpPr txBox="1"/>
          <p:nvPr/>
        </p:nvSpPr>
        <p:spPr>
          <a:xfrm>
            <a:off x="640080" y="4526280"/>
            <a:ext cx="3200400" cy="1371600"/>
          </a:xfrm>
          <a:prstGeom prst="rect">
            <a:avLst/>
          </a:prstGeom>
          <a:noFill/>
        </p:spPr>
        <p:txBody>
          <a:bodyPr wrap="square">
            <a:spAutoFit/>
          </a:bodyPr>
          <a:lstStyle/>
          <a:p>
            <a:pPr algn="ctr"/>
            <a:r>
              <a:rPr sz="1100" b="0" i="0">
                <a:solidFill>
                  <a:srgbClr val="555F6E"/>
                </a:solidFill>
              </a:rPr>
              <a:t>Dates, resources, dependencies and priority — at Epic, Feature and Story level.
That is what holds deadline, capacity and risk together.</a:t>
            </a:r>
          </a:p>
        </p:txBody>
      </p:sp>
      <p:sp>
        <p:nvSpPr>
          <p:cNvPr id="13" name="Rectangle 12"/>
          <p:cNvSpPr/>
          <p:nvPr/>
        </p:nvSpPr>
        <p:spPr>
          <a:xfrm>
            <a:off x="4297680" y="3611880"/>
            <a:ext cx="3566160" cy="2377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3611880"/>
            <a:ext cx="3566160" cy="54864"/>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560" y="3840480"/>
            <a:ext cx="3200400" cy="457200"/>
          </a:xfrm>
          <a:prstGeom prst="rect">
            <a:avLst/>
          </a:prstGeom>
          <a:noFill/>
        </p:spPr>
        <p:txBody>
          <a:bodyPr wrap="square">
            <a:spAutoFit/>
          </a:bodyPr>
          <a:lstStyle/>
          <a:p>
            <a:pPr algn="ctr"/>
            <a:r>
              <a:rPr sz="1300" b="1" i="0">
                <a:solidFill>
                  <a:srgbClr val="1A3A6B"/>
                </a:solidFill>
              </a:rPr>
              <a:t>The team moves inside them</a:t>
            </a:r>
          </a:p>
        </p:txBody>
      </p:sp>
      <p:sp>
        <p:nvSpPr>
          <p:cNvPr id="16" name="TextBox 15"/>
          <p:cNvSpPr txBox="1"/>
          <p:nvPr/>
        </p:nvSpPr>
        <p:spPr>
          <a:xfrm>
            <a:off x="4480560" y="4526280"/>
            <a:ext cx="3200400" cy="1371600"/>
          </a:xfrm>
          <a:prstGeom prst="rect">
            <a:avLst/>
          </a:prstGeom>
          <a:noFill/>
        </p:spPr>
        <p:txBody>
          <a:bodyPr wrap="square">
            <a:spAutoFit/>
          </a:bodyPr>
          <a:lstStyle/>
          <a:p>
            <a:pPr algn="ctr"/>
            <a:r>
              <a:rPr sz="1100" b="0" i="0">
                <a:solidFill>
                  <a:srgbClr val="555F6E"/>
                </a:solidFill>
              </a:rPr>
              <a:t>Tasks are born in execution, with the people doing the work: breakdown, sequence
and fine tuning happen in the TaskBoard, with no replanning round trip.</a:t>
            </a:r>
          </a:p>
        </p:txBody>
      </p:sp>
      <p:sp>
        <p:nvSpPr>
          <p:cNvPr id="17" name="Rectangle 16"/>
          <p:cNvSpPr/>
          <p:nvPr/>
        </p:nvSpPr>
        <p:spPr>
          <a:xfrm>
            <a:off x="8138160" y="3611880"/>
            <a:ext cx="3566160" cy="2377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3611880"/>
            <a:ext cx="3566160" cy="54864"/>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1040" y="3840480"/>
            <a:ext cx="3200400" cy="457200"/>
          </a:xfrm>
          <a:prstGeom prst="rect">
            <a:avLst/>
          </a:prstGeom>
          <a:noFill/>
        </p:spPr>
        <p:txBody>
          <a:bodyPr wrap="square">
            <a:spAutoFit/>
          </a:bodyPr>
          <a:lstStyle/>
          <a:p>
            <a:pPr algn="ctr"/>
            <a:r>
              <a:rPr sz="1300" b="1" i="0">
                <a:solidFill>
                  <a:srgbClr val="1A3A6B"/>
                </a:solidFill>
              </a:rPr>
              <a:t>Both sides see the same thing</a:t>
            </a:r>
          </a:p>
        </p:txBody>
      </p:sp>
      <p:sp>
        <p:nvSpPr>
          <p:cNvPr id="20" name="TextBox 19"/>
          <p:cNvSpPr txBox="1"/>
          <p:nvPr/>
        </p:nvSpPr>
        <p:spPr>
          <a:xfrm>
            <a:off x="8321040" y="4526280"/>
            <a:ext cx="3200400" cy="1371600"/>
          </a:xfrm>
          <a:prstGeom prst="rect">
            <a:avLst/>
          </a:prstGeom>
          <a:noFill/>
        </p:spPr>
        <p:txBody>
          <a:bodyPr wrap="square">
            <a:spAutoFit/>
          </a:bodyPr>
          <a:lstStyle/>
          <a:p>
            <a:pPr algn="ctr"/>
            <a:r>
              <a:rPr sz="1100" b="0" i="0">
                <a:solidFill>
                  <a:srgbClr val="555F6E"/>
                </a:solidFill>
              </a:rPr>
              <a:t>The Task created by the team rolls up to the Story in the schedule; managers see
progress and blockers without chasing status manually.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solidFill>
              <a:srgbClr val="F4F6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64008" cy="5669280"/>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0972800" cy="731520"/>
          </a:xfrm>
          <a:prstGeom prst="rect">
            <a:avLst/>
          </a:prstGeom>
          <a:noFill/>
        </p:spPr>
        <p:txBody>
          <a:bodyPr wrap="square">
            <a:spAutoFit/>
          </a:bodyPr>
          <a:lstStyle/>
          <a:p>
            <a:pPr algn="l"/>
            <a:r>
              <a:rPr sz="2800" b="1" i="0">
                <a:solidFill>
                  <a:srgbClr val="FFFFFF"/>
                </a:solidFill>
              </a:rPr>
              <a:t>Key features</a:t>
            </a:r>
          </a:p>
        </p:txBody>
      </p:sp>
      <p:sp>
        <p:nvSpPr>
          <p:cNvPr id="6" name="Rectangle 5"/>
          <p:cNvSpPr/>
          <p:nvPr/>
        </p:nvSpPr>
        <p:spPr>
          <a:xfrm>
            <a:off x="320040" y="1417320"/>
            <a:ext cx="2788920" cy="2377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 y="1417320"/>
            <a:ext cx="2788920" cy="411480"/>
          </a:xfrm>
          <a:prstGeom prst="rect">
            <a:avLst/>
          </a:prstGeom>
          <a:solidFill>
            <a:srgbClr val="2B579A"/>
          </a:solidFill>
          <a:ln>
            <a:solidFill>
              <a:srgbClr val="2B57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463040"/>
            <a:ext cx="2606040" cy="347472"/>
          </a:xfrm>
          <a:prstGeom prst="rect">
            <a:avLst/>
          </a:prstGeom>
          <a:noFill/>
        </p:spPr>
        <p:txBody>
          <a:bodyPr wrap="square">
            <a:spAutoFit/>
          </a:bodyPr>
          <a:lstStyle/>
          <a:p>
            <a:pPr algn="l"/>
            <a:r>
              <a:rPr sz="1200" b="1" i="0">
                <a:solidFill>
                  <a:srgbClr val="FFFFFF"/>
                </a:solidFill>
              </a:rPr>
              <a:t>Azure DevOps import</a:t>
            </a:r>
          </a:p>
        </p:txBody>
      </p:sp>
      <p:sp>
        <p:nvSpPr>
          <p:cNvPr id="9" name="TextBox 8"/>
          <p:cNvSpPr txBox="1"/>
          <p:nvPr/>
        </p:nvSpPr>
        <p:spPr>
          <a:xfrm>
            <a:off x="457200" y="1892808"/>
            <a:ext cx="2560320" cy="1828800"/>
          </a:xfrm>
          <a:prstGeom prst="rect">
            <a:avLst/>
          </a:prstGeom>
          <a:noFill/>
        </p:spPr>
        <p:txBody>
          <a:bodyPr wrap="square">
            <a:spAutoFit/>
          </a:bodyPr>
          <a:lstStyle/>
          <a:p>
            <a:pPr algn="l"/>
            <a:r>
              <a:rPr sz="1050" b="0" i="0">
                <a:solidFill>
                  <a:srgbClr val="555F6E"/>
                </a:solidFill>
              </a:rPr>
              <a:t>• Project → Epic → Feature → Story hierarchy
• Optional Task level (Load Task ToDo)
• Estimates, dates, sprints and owners
• Predecessors and blockers (Block tag)</a:t>
            </a:r>
          </a:p>
        </p:txBody>
      </p:sp>
      <p:sp>
        <p:nvSpPr>
          <p:cNvPr id="10" name="Rectangle 9"/>
          <p:cNvSpPr/>
          <p:nvPr/>
        </p:nvSpPr>
        <p:spPr>
          <a:xfrm>
            <a:off x="3291840" y="1417320"/>
            <a:ext cx="2788920" cy="2377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91840" y="1417320"/>
            <a:ext cx="2788920" cy="411480"/>
          </a:xfrm>
          <a:prstGeom prst="rect">
            <a:avLst/>
          </a:prstGeom>
          <a:solidFill>
            <a:srgbClr val="2B579A"/>
          </a:solidFill>
          <a:ln>
            <a:solidFill>
              <a:srgbClr val="2B57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29000" y="1463040"/>
            <a:ext cx="2606040" cy="347472"/>
          </a:xfrm>
          <a:prstGeom prst="rect">
            <a:avLst/>
          </a:prstGeom>
          <a:noFill/>
        </p:spPr>
        <p:txBody>
          <a:bodyPr wrap="square">
            <a:spAutoFit/>
          </a:bodyPr>
          <a:lstStyle/>
          <a:p>
            <a:pPr algn="l"/>
            <a:r>
              <a:rPr sz="1200" b="1" i="0">
                <a:solidFill>
                  <a:srgbClr val="FFFFFF"/>
                </a:solidFill>
              </a:rPr>
              <a:t>Smart schedule</a:t>
            </a:r>
          </a:p>
        </p:txBody>
      </p:sp>
      <p:sp>
        <p:nvSpPr>
          <p:cNvPr id="13" name="TextBox 12"/>
          <p:cNvSpPr txBox="1"/>
          <p:nvPr/>
        </p:nvSpPr>
        <p:spPr>
          <a:xfrm>
            <a:off x="3429000" y="1892808"/>
            <a:ext cx="2560320" cy="1828800"/>
          </a:xfrm>
          <a:prstGeom prst="rect">
            <a:avLst/>
          </a:prstGeom>
          <a:noFill/>
        </p:spPr>
        <p:txBody>
          <a:bodyPr wrap="square">
            <a:spAutoFit/>
          </a:bodyPr>
          <a:lstStyle/>
          <a:p>
            <a:pPr algn="l"/>
            <a:r>
              <a:rPr sz="1050" b="0" i="0">
                <a:solidFill>
                  <a:srgbClr val="555F6E"/>
                </a:solidFill>
              </a:rPr>
              <a:t>• Automatic predecessor cascade
• Virtual predecessor by resource
• Calendar with holidays and working hours
• %Daily column: expected pace by today</a:t>
            </a:r>
          </a:p>
        </p:txBody>
      </p:sp>
      <p:sp>
        <p:nvSpPr>
          <p:cNvPr id="14" name="Rectangle 13"/>
          <p:cNvSpPr/>
          <p:nvPr/>
        </p:nvSpPr>
        <p:spPr>
          <a:xfrm>
            <a:off x="6263640" y="1417320"/>
            <a:ext cx="2788920" cy="2377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417320"/>
            <a:ext cx="2788920" cy="411480"/>
          </a:xfrm>
          <a:prstGeom prst="rect">
            <a:avLst/>
          </a:prstGeom>
          <a:solidFill>
            <a:srgbClr val="2B579A"/>
          </a:solidFill>
          <a:ln>
            <a:solidFill>
              <a:srgbClr val="2B57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1463040"/>
            <a:ext cx="2606040" cy="347472"/>
          </a:xfrm>
          <a:prstGeom prst="rect">
            <a:avLst/>
          </a:prstGeom>
          <a:noFill/>
        </p:spPr>
        <p:txBody>
          <a:bodyPr wrap="square">
            <a:spAutoFit/>
          </a:bodyPr>
          <a:lstStyle/>
          <a:p>
            <a:pPr algn="l"/>
            <a:r>
              <a:rPr sz="1200" b="1" i="0">
                <a:solidFill>
                  <a:srgbClr val="FFFFFF"/>
                </a:solidFill>
              </a:rPr>
              <a:t>Gantt chart</a:t>
            </a:r>
          </a:p>
        </p:txBody>
      </p:sp>
      <p:sp>
        <p:nvSpPr>
          <p:cNvPr id="17" name="TextBox 16"/>
          <p:cNvSpPr txBox="1"/>
          <p:nvPr/>
        </p:nvSpPr>
        <p:spPr>
          <a:xfrm>
            <a:off x="6400800" y="1892808"/>
            <a:ext cx="2560320" cy="1828800"/>
          </a:xfrm>
          <a:prstGeom prst="rect">
            <a:avLst/>
          </a:prstGeom>
          <a:noFill/>
        </p:spPr>
        <p:txBody>
          <a:bodyPr wrap="square">
            <a:spAutoFit/>
          </a:bodyPr>
          <a:lstStyle/>
          <a:p>
            <a:pPr algn="l"/>
            <a:r>
              <a:rPr sz="1050" b="0" i="0">
                <a:solidFill>
                  <a:srgbClr val="555F6E"/>
                </a:solidFill>
              </a:rPr>
              <a:t>• Bars, milestones and dependency arrows
• Critical path (CPM) and baseline
• Zoom: Day, Week, Sprint, Month, Quarter
• Drag to visually replan</a:t>
            </a:r>
          </a:p>
        </p:txBody>
      </p:sp>
      <p:sp>
        <p:nvSpPr>
          <p:cNvPr id="18" name="Rectangle 17"/>
          <p:cNvSpPr/>
          <p:nvPr/>
        </p:nvSpPr>
        <p:spPr>
          <a:xfrm>
            <a:off x="9235440" y="1417320"/>
            <a:ext cx="2788920" cy="2377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235440" y="1417320"/>
            <a:ext cx="2788920" cy="411480"/>
          </a:xfrm>
          <a:prstGeom prst="rect">
            <a:avLst/>
          </a:prstGeom>
          <a:solidFill>
            <a:srgbClr val="2B579A"/>
          </a:solidFill>
          <a:ln>
            <a:solidFill>
              <a:srgbClr val="2B57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2600" y="1463040"/>
            <a:ext cx="2606040" cy="347472"/>
          </a:xfrm>
          <a:prstGeom prst="rect">
            <a:avLst/>
          </a:prstGeom>
          <a:noFill/>
        </p:spPr>
        <p:txBody>
          <a:bodyPr wrap="square">
            <a:spAutoFit/>
          </a:bodyPr>
          <a:lstStyle/>
          <a:p>
            <a:pPr algn="l"/>
            <a:r>
              <a:rPr sz="1200" b="1" i="0">
                <a:solidFill>
                  <a:srgbClr val="FFFFFF"/>
                </a:solidFill>
              </a:rPr>
              <a:t>TaskBoard</a:t>
            </a:r>
          </a:p>
        </p:txBody>
      </p:sp>
      <p:sp>
        <p:nvSpPr>
          <p:cNvPr id="21" name="TextBox 20"/>
          <p:cNvSpPr txBox="1"/>
          <p:nvPr/>
        </p:nvSpPr>
        <p:spPr>
          <a:xfrm>
            <a:off x="9372600" y="1892808"/>
            <a:ext cx="2560320" cy="1828800"/>
          </a:xfrm>
          <a:prstGeom prst="rect">
            <a:avLst/>
          </a:prstGeom>
          <a:noFill/>
        </p:spPr>
        <p:txBody>
          <a:bodyPr wrap="square">
            <a:spAutoFit/>
          </a:bodyPr>
          <a:lstStyle/>
          <a:p>
            <a:pPr algn="l"/>
            <a:r>
              <a:rPr sz="1050" b="0" i="0">
                <a:solidFill>
                  <a:srgbClr val="555F6E"/>
                </a:solidFill>
              </a:rPr>
              <a:t>• Project &amp; Story and Person &amp; Task views
• Drag to change state; batched write-back
• Doing/Done and WIP limit per person
• Alert for Stories out of sync</a:t>
            </a:r>
          </a:p>
        </p:txBody>
      </p:sp>
      <p:sp>
        <p:nvSpPr>
          <p:cNvPr id="22" name="Rectangle 21"/>
          <p:cNvSpPr/>
          <p:nvPr/>
        </p:nvSpPr>
        <p:spPr>
          <a:xfrm>
            <a:off x="320040" y="4023360"/>
            <a:ext cx="2788920" cy="2377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0040" y="4023360"/>
            <a:ext cx="2788920" cy="411480"/>
          </a:xfrm>
          <a:prstGeom prst="rect">
            <a:avLst/>
          </a:prstGeom>
          <a:solidFill>
            <a:srgbClr val="2B579A"/>
          </a:solidFill>
          <a:ln>
            <a:solidFill>
              <a:srgbClr val="2B57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069080"/>
            <a:ext cx="2606040" cy="347472"/>
          </a:xfrm>
          <a:prstGeom prst="rect">
            <a:avLst/>
          </a:prstGeom>
          <a:noFill/>
        </p:spPr>
        <p:txBody>
          <a:bodyPr wrap="square">
            <a:spAutoFit/>
          </a:bodyPr>
          <a:lstStyle/>
          <a:p>
            <a:pPr algn="l"/>
            <a:r>
              <a:rPr sz="1200" b="1" i="0">
                <a:solidFill>
                  <a:srgbClr val="FFFFFF"/>
                </a:solidFill>
              </a:rPr>
              <a:t>Task Plan (Excel)</a:t>
            </a:r>
          </a:p>
        </p:txBody>
      </p:sp>
      <p:sp>
        <p:nvSpPr>
          <p:cNvPr id="25" name="TextBox 24"/>
          <p:cNvSpPr txBox="1"/>
          <p:nvPr/>
        </p:nvSpPr>
        <p:spPr>
          <a:xfrm>
            <a:off x="457200" y="4498848"/>
            <a:ext cx="2560320" cy="1828800"/>
          </a:xfrm>
          <a:prstGeom prst="rect">
            <a:avLst/>
          </a:prstGeom>
          <a:noFill/>
        </p:spPr>
        <p:txBody>
          <a:bodyPr wrap="square">
            <a:spAutoFit/>
          </a:bodyPr>
          <a:lstStyle/>
          <a:p>
            <a:pPr algn="l"/>
            <a:r>
              <a:rPr sz="1050" b="0" i="0">
                <a:solidFill>
                  <a:srgbClr val="555F6E"/>
                </a:solidFill>
              </a:rPr>
              <a:t>• Breaks the Story down into Tasks
• AI suggestions and Tech Lead review
• Applies to the schedule and syncs back
• Automatic backup on every save</a:t>
            </a:r>
          </a:p>
        </p:txBody>
      </p:sp>
      <p:sp>
        <p:nvSpPr>
          <p:cNvPr id="26" name="Rectangle 25"/>
          <p:cNvSpPr/>
          <p:nvPr/>
        </p:nvSpPr>
        <p:spPr>
          <a:xfrm>
            <a:off x="3291840" y="4023360"/>
            <a:ext cx="2788920" cy="2377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291840" y="4023360"/>
            <a:ext cx="2788920" cy="411480"/>
          </a:xfrm>
          <a:prstGeom prst="rect">
            <a:avLst/>
          </a:prstGeom>
          <a:solidFill>
            <a:srgbClr val="2B579A"/>
          </a:solidFill>
          <a:ln>
            <a:solidFill>
              <a:srgbClr val="2B57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29000" y="4069080"/>
            <a:ext cx="2606040" cy="347472"/>
          </a:xfrm>
          <a:prstGeom prst="rect">
            <a:avLst/>
          </a:prstGeom>
          <a:noFill/>
        </p:spPr>
        <p:txBody>
          <a:bodyPr wrap="square">
            <a:spAutoFit/>
          </a:bodyPr>
          <a:lstStyle/>
          <a:p>
            <a:pPr algn="l"/>
            <a:r>
              <a:rPr sz="1200" b="1" i="0">
                <a:solidFill>
                  <a:srgbClr val="FFFFFF"/>
                </a:solidFill>
              </a:rPr>
              <a:t>Resources and costs</a:t>
            </a:r>
          </a:p>
        </p:txBody>
      </p:sp>
      <p:sp>
        <p:nvSpPr>
          <p:cNvPr id="29" name="TextBox 28"/>
          <p:cNvSpPr txBox="1"/>
          <p:nvPr/>
        </p:nvSpPr>
        <p:spPr>
          <a:xfrm>
            <a:off x="3429000" y="4498848"/>
            <a:ext cx="2560320" cy="1828800"/>
          </a:xfrm>
          <a:prstGeom prst="rect">
            <a:avLst/>
          </a:prstGeom>
          <a:noFill/>
        </p:spPr>
        <p:txBody>
          <a:bodyPr wrap="square">
            <a:spAutoFit/>
          </a:bodyPr>
          <a:lstStyle/>
          <a:p>
            <a:pPr algn="l"/>
            <a:r>
              <a:rPr sz="1050" b="0" i="0">
                <a:solidFill>
                  <a:srgbClr val="555F6E"/>
                </a:solidFill>
              </a:rPr>
              <a:t>• Allocation by person and sprint
• Allocation map by project and month
• Cost per resource (hourly or monthly)
• Overload alert (&gt;100%)</a:t>
            </a:r>
          </a:p>
        </p:txBody>
      </p:sp>
      <p:sp>
        <p:nvSpPr>
          <p:cNvPr id="30" name="Rectangle 29"/>
          <p:cNvSpPr/>
          <p:nvPr/>
        </p:nvSpPr>
        <p:spPr>
          <a:xfrm>
            <a:off x="6263640" y="4023360"/>
            <a:ext cx="2788920" cy="2377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63640" y="4023360"/>
            <a:ext cx="2788920" cy="411480"/>
          </a:xfrm>
          <a:prstGeom prst="rect">
            <a:avLst/>
          </a:prstGeom>
          <a:solidFill>
            <a:srgbClr val="2B579A"/>
          </a:solidFill>
          <a:ln>
            <a:solidFill>
              <a:srgbClr val="2B57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0" y="4069080"/>
            <a:ext cx="2606040" cy="347472"/>
          </a:xfrm>
          <a:prstGeom prst="rect">
            <a:avLst/>
          </a:prstGeom>
          <a:noFill/>
        </p:spPr>
        <p:txBody>
          <a:bodyPr wrap="square">
            <a:spAutoFit/>
          </a:bodyPr>
          <a:lstStyle/>
          <a:p>
            <a:pPr algn="l"/>
            <a:r>
              <a:rPr sz="1200" b="1" i="0">
                <a:solidFill>
                  <a:srgbClr val="FFFFFF"/>
                </a:solidFill>
              </a:rPr>
              <a:t>Bidirectional sync</a:t>
            </a:r>
          </a:p>
        </p:txBody>
      </p:sp>
      <p:sp>
        <p:nvSpPr>
          <p:cNvPr id="33" name="TextBox 32"/>
          <p:cNvSpPr txBox="1"/>
          <p:nvPr/>
        </p:nvSpPr>
        <p:spPr>
          <a:xfrm>
            <a:off x="6400800" y="4498848"/>
            <a:ext cx="2560320" cy="1828800"/>
          </a:xfrm>
          <a:prstGeom prst="rect">
            <a:avLst/>
          </a:prstGeom>
          <a:noFill/>
        </p:spPr>
        <p:txBody>
          <a:bodyPr wrap="square">
            <a:spAutoFit/>
          </a:bodyPr>
          <a:lstStyle/>
          <a:p>
            <a:pPr algn="l"/>
            <a:r>
              <a:rPr sz="1050" b="0" i="0">
                <a:solidFill>
                  <a:srgbClr val="555F6E"/>
                </a:solidFill>
              </a:rPr>
              <a:t>• Dates, hours, state, sprint, tags and predecessors
• Creates new work items in DevOps
• Concurrency control across users
• Project admin group (Adm_NX)</a:t>
            </a:r>
          </a:p>
        </p:txBody>
      </p:sp>
      <p:sp>
        <p:nvSpPr>
          <p:cNvPr id="34" name="Rectangle 33"/>
          <p:cNvSpPr/>
          <p:nvPr/>
        </p:nvSpPr>
        <p:spPr>
          <a:xfrm>
            <a:off x="9235440" y="4023360"/>
            <a:ext cx="2788920" cy="2377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235440" y="4023360"/>
            <a:ext cx="2788920" cy="411480"/>
          </a:xfrm>
          <a:prstGeom prst="rect">
            <a:avLst/>
          </a:prstGeom>
          <a:solidFill>
            <a:srgbClr val="2B579A"/>
          </a:solidFill>
          <a:ln>
            <a:solidFill>
              <a:srgbClr val="2B57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72600" y="4069080"/>
            <a:ext cx="2606040" cy="347472"/>
          </a:xfrm>
          <a:prstGeom prst="rect">
            <a:avLst/>
          </a:prstGeom>
          <a:noFill/>
        </p:spPr>
        <p:txBody>
          <a:bodyPr wrap="square">
            <a:spAutoFit/>
          </a:bodyPr>
          <a:lstStyle/>
          <a:p>
            <a:pPr algn="l"/>
            <a:r>
              <a:rPr sz="1200" b="1" i="0">
                <a:solidFill>
                  <a:srgbClr val="FFFFFF"/>
                </a:solidFill>
              </a:rPr>
              <a:t>Health Check</a:t>
            </a:r>
          </a:p>
        </p:txBody>
      </p:sp>
      <p:sp>
        <p:nvSpPr>
          <p:cNvPr id="37" name="TextBox 36"/>
          <p:cNvSpPr txBox="1"/>
          <p:nvPr/>
        </p:nvSpPr>
        <p:spPr>
          <a:xfrm>
            <a:off x="9372600" y="4498848"/>
            <a:ext cx="2560320" cy="1828800"/>
          </a:xfrm>
          <a:prstGeom prst="rect">
            <a:avLst/>
          </a:prstGeom>
          <a:noFill/>
        </p:spPr>
        <p:txBody>
          <a:bodyPr wrap="square">
            <a:spAutoFit/>
          </a:bodyPr>
          <a:lstStyle/>
          <a:p>
            <a:pPr algn="l"/>
            <a:r>
              <a:rPr sz="1050" b="0" i="0">
                <a:solidFill>
                  <a:srgbClr val="555F6E"/>
                </a:solidFill>
              </a:rPr>
              <a:t>• Late activities (Finish &lt; today and % &lt; 100)
• %Daily vs reported % deviation
• Items without owner and circular dependencies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solidFill>
              <a:srgbClr val="F4F6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64008" cy="5669280"/>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0972800" cy="731520"/>
          </a:xfrm>
          <a:prstGeom prst="rect">
            <a:avLst/>
          </a:prstGeom>
          <a:noFill/>
        </p:spPr>
        <p:txBody>
          <a:bodyPr wrap="square">
            <a:spAutoFit/>
          </a:bodyPr>
          <a:lstStyle/>
          <a:p>
            <a:pPr algn="l"/>
            <a:r>
              <a:rPr sz="2800" b="1" i="0">
                <a:solidFill>
                  <a:srgbClr val="FFFFFF"/>
                </a:solidFill>
              </a:rPr>
              <a:t>Strategic benefits for Management</a:t>
            </a:r>
          </a:p>
        </p:txBody>
      </p:sp>
      <p:sp>
        <p:nvSpPr>
          <p:cNvPr id="6" name="Rectangle 5"/>
          <p:cNvSpPr/>
          <p:nvPr/>
        </p:nvSpPr>
        <p:spPr>
          <a:xfrm>
            <a:off x="365760" y="1417320"/>
            <a:ext cx="5577840" cy="16002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417320"/>
            <a:ext cx="64008" cy="1600200"/>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527048"/>
            <a:ext cx="5257800" cy="1417320"/>
          </a:xfrm>
          <a:prstGeom prst="rect">
            <a:avLst/>
          </a:prstGeom>
          <a:noFill/>
        </p:spPr>
        <p:txBody>
          <a:bodyPr wrap="square">
            <a:spAutoFit/>
          </a:bodyPr>
          <a:lstStyle/>
          <a:p>
            <a:r>
              <a:rPr sz="1200" b="1">
                <a:solidFill>
                  <a:srgbClr val="1A3A6B"/>
                </a:solidFill>
              </a:rPr>
              <a:t>🎯  Real visibility into IT projects</a:t>
            </a:r>
          </a:p>
          <a:p>
            <a:pPr algn="l">
              <a:spcBef>
                <a:spcPts val="500"/>
              </a:spcBef>
            </a:pPr>
            <a:r>
              <a:rPr sz="1050" b="0" i="0">
                <a:solidFill>
                  <a:srgbClr val="555F6E"/>
                </a:solidFill>
              </a:rPr>
              <a:t>A consolidated schedule with dates, dependencies and completion percentage — without relying on manual team reports.</a:t>
            </a:r>
          </a:p>
        </p:txBody>
      </p:sp>
      <p:sp>
        <p:nvSpPr>
          <p:cNvPr id="9" name="Rectangle 8"/>
          <p:cNvSpPr/>
          <p:nvPr/>
        </p:nvSpPr>
        <p:spPr>
          <a:xfrm>
            <a:off x="6217920" y="1417320"/>
            <a:ext cx="5577840" cy="16002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1417320"/>
            <a:ext cx="64008" cy="1600200"/>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9088" y="1527048"/>
            <a:ext cx="5257800" cy="1417320"/>
          </a:xfrm>
          <a:prstGeom prst="rect">
            <a:avLst/>
          </a:prstGeom>
          <a:noFill/>
        </p:spPr>
        <p:txBody>
          <a:bodyPr wrap="square">
            <a:spAutoFit/>
          </a:bodyPr>
          <a:lstStyle/>
          <a:p>
            <a:r>
              <a:rPr sz="1200" b="1">
                <a:solidFill>
                  <a:srgbClr val="1A3A6B"/>
                </a:solidFill>
              </a:rPr>
              <a:t>⚡  Zero impact on technical workflow</a:t>
            </a:r>
          </a:p>
          <a:p>
            <a:pPr algn="l">
              <a:spcBef>
                <a:spcPts val="500"/>
              </a:spcBef>
            </a:pPr>
            <a:r>
              <a:rPr sz="1050" b="0" i="0">
                <a:solidFill>
                  <a:srgbClr val="555F6E"/>
                </a:solidFill>
              </a:rPr>
              <a:t>The team continues using Azure DevOps as before. NXProject is a reading and planning layer — no process change required.</a:t>
            </a:r>
          </a:p>
        </p:txBody>
      </p:sp>
      <p:sp>
        <p:nvSpPr>
          <p:cNvPr id="12" name="Rectangle 11"/>
          <p:cNvSpPr/>
          <p:nvPr/>
        </p:nvSpPr>
        <p:spPr>
          <a:xfrm>
            <a:off x="365760" y="3154680"/>
            <a:ext cx="5577840" cy="16002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3154680"/>
            <a:ext cx="64008" cy="1600200"/>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264408"/>
            <a:ext cx="5257800" cy="1417320"/>
          </a:xfrm>
          <a:prstGeom prst="rect">
            <a:avLst/>
          </a:prstGeom>
          <a:noFill/>
        </p:spPr>
        <p:txBody>
          <a:bodyPr wrap="square">
            <a:spAutoFit/>
          </a:bodyPr>
          <a:lstStyle/>
          <a:p>
            <a:r>
              <a:rPr sz="1200" b="1">
                <a:solidFill>
                  <a:srgbClr val="1A3A6B"/>
                </a:solidFill>
              </a:rPr>
              <a:t>💰  Less rework and hidden cost</a:t>
            </a:r>
          </a:p>
          <a:p>
            <a:pPr algn="l">
              <a:spcBef>
                <a:spcPts val="500"/>
              </a:spcBef>
            </a:pPr>
            <a:r>
              <a:rPr sz="1050" b="0" i="0">
                <a:solidFill>
                  <a:srgbClr val="555F6E"/>
                </a:solidFill>
              </a:rPr>
              <a:t>Eliminates parallel spreadsheets, long status meetings and the cost of delays detected too late.</a:t>
            </a:r>
          </a:p>
        </p:txBody>
      </p:sp>
      <p:sp>
        <p:nvSpPr>
          <p:cNvPr id="15" name="Rectangle 14"/>
          <p:cNvSpPr/>
          <p:nvPr/>
        </p:nvSpPr>
        <p:spPr>
          <a:xfrm>
            <a:off x="6217920" y="3154680"/>
            <a:ext cx="5577840" cy="16002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3154680"/>
            <a:ext cx="64008" cy="1600200"/>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9088" y="3264408"/>
            <a:ext cx="5257800" cy="1417320"/>
          </a:xfrm>
          <a:prstGeom prst="rect">
            <a:avLst/>
          </a:prstGeom>
          <a:noFill/>
        </p:spPr>
        <p:txBody>
          <a:bodyPr wrap="square">
            <a:spAutoFit/>
          </a:bodyPr>
          <a:lstStyle/>
          <a:p>
            <a:r>
              <a:rPr sz="1200" b="1">
                <a:solidFill>
                  <a:srgbClr val="1A3A6B"/>
                </a:solidFill>
              </a:rPr>
              <a:t>📈  Data-driven decisions</a:t>
            </a:r>
          </a:p>
          <a:p>
            <a:pPr algn="l">
              <a:spcBef>
                <a:spcPts val="500"/>
              </a:spcBef>
            </a:pPr>
            <a:r>
              <a:rPr sz="1050" b="0" i="0">
                <a:solidFill>
                  <a:srgbClr val="555F6E"/>
                </a:solidFill>
              </a:rPr>
              <a:t>Automatic Health Check, resource allocation and proactive delay alerts give management precise information for fast decisions.</a:t>
            </a:r>
          </a:p>
        </p:txBody>
      </p:sp>
      <p:sp>
        <p:nvSpPr>
          <p:cNvPr id="18" name="Rectangle 17"/>
          <p:cNvSpPr/>
          <p:nvPr/>
        </p:nvSpPr>
        <p:spPr>
          <a:xfrm>
            <a:off x="365760" y="4892040"/>
            <a:ext cx="5577840" cy="16002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5760" y="4892040"/>
            <a:ext cx="64008" cy="1600200"/>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5001768"/>
            <a:ext cx="5257800" cy="1417320"/>
          </a:xfrm>
          <a:prstGeom prst="rect">
            <a:avLst/>
          </a:prstGeom>
          <a:noFill/>
        </p:spPr>
        <p:txBody>
          <a:bodyPr wrap="square">
            <a:spAutoFit/>
          </a:bodyPr>
          <a:lstStyle/>
          <a:p>
            <a:r>
              <a:rPr sz="1200" b="1">
                <a:solidFill>
                  <a:srgbClr val="1A3A6B"/>
                </a:solidFill>
              </a:rPr>
              <a:t>🔒  Security and control</a:t>
            </a:r>
          </a:p>
          <a:p>
            <a:pPr algn="l">
              <a:spcBef>
                <a:spcPts val="500"/>
              </a:spcBef>
            </a:pPr>
            <a:r>
              <a:rPr sz="1050" b="0" i="0">
                <a:solidFill>
                  <a:srgbClr val="555F6E"/>
                </a:solidFill>
              </a:rPr>
              <a:t>Azure DevOps credentials protected by DPAPI (Windows per-user encryption). Project data stays in a local file — no mandatory cloud. Local AI runs the model on your own machine, sending no project data out.</a:t>
            </a:r>
          </a:p>
        </p:txBody>
      </p:sp>
      <p:sp>
        <p:nvSpPr>
          <p:cNvPr id="21" name="Rectangle 20"/>
          <p:cNvSpPr/>
          <p:nvPr/>
        </p:nvSpPr>
        <p:spPr>
          <a:xfrm>
            <a:off x="6217920" y="4892040"/>
            <a:ext cx="5577840" cy="16002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4892040"/>
            <a:ext cx="64008" cy="1600200"/>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9088" y="5001768"/>
            <a:ext cx="5257800" cy="1417320"/>
          </a:xfrm>
          <a:prstGeom prst="rect">
            <a:avLst/>
          </a:prstGeom>
          <a:noFill/>
        </p:spPr>
        <p:txBody>
          <a:bodyPr wrap="square">
            <a:spAutoFit/>
          </a:bodyPr>
          <a:lstStyle/>
          <a:p>
            <a:r>
              <a:rPr sz="1200" b="1">
                <a:solidFill>
                  <a:srgbClr val="1A3A6B"/>
                </a:solidFill>
              </a:rPr>
              <a:t>📦  Simple deployment</a:t>
            </a:r>
          </a:p>
          <a:p>
            <a:pPr algn="l">
              <a:spcBef>
                <a:spcPts val="500"/>
              </a:spcBef>
            </a:pPr>
            <a:r>
              <a:rPr sz="1050" b="0" i="0">
                <a:solidFill>
                  <a:srgbClr val="555F6E"/>
                </a:solidFill>
              </a:rPr>
              <a:t>Desktop application with its own installer: no server, no database and no extra infrastructure. Ready in minutes.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solidFill>
              <a:srgbClr val="F4F6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64008" cy="5669280"/>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0972800" cy="731520"/>
          </a:xfrm>
          <a:prstGeom prst="rect">
            <a:avLst/>
          </a:prstGeom>
          <a:noFill/>
        </p:spPr>
        <p:txBody>
          <a:bodyPr wrap="square">
            <a:spAutoFit/>
          </a:bodyPr>
          <a:lstStyle/>
          <a:p>
            <a:pPr algn="l"/>
            <a:r>
              <a:rPr sz="2800" b="1" i="0">
                <a:solidFill>
                  <a:srgbClr val="FFFFFF"/>
                </a:solidFill>
              </a:rPr>
              <a:t>How it works — workflow</a:t>
            </a:r>
          </a:p>
        </p:txBody>
      </p:sp>
      <p:sp>
        <p:nvSpPr>
          <p:cNvPr id="6" name="Rectangle 5"/>
          <p:cNvSpPr/>
          <p:nvPr/>
        </p:nvSpPr>
        <p:spPr>
          <a:xfrm>
            <a:off x="196596" y="2011680"/>
            <a:ext cx="1737360" cy="3474720"/>
          </a:xfrm>
          <a:prstGeom prst="rect">
            <a:avLst/>
          </a:prstGeom>
          <a:solidFill>
            <a:srgbClr val="2B579A"/>
          </a:solidFill>
          <a:ln>
            <a:solidFill>
              <a:srgbClr val="2B57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5236" y="2176272"/>
            <a:ext cx="640080" cy="640080"/>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5236" y="2176272"/>
            <a:ext cx="640080" cy="640080"/>
          </a:xfrm>
          <a:prstGeom prst="rect">
            <a:avLst/>
          </a:prstGeom>
          <a:noFill/>
        </p:spPr>
        <p:txBody>
          <a:bodyPr wrap="square">
            <a:spAutoFit/>
          </a:bodyPr>
          <a:lstStyle/>
          <a:p>
            <a:pPr algn="ctr"/>
            <a:r>
              <a:rPr sz="2000" b="1" i="0">
                <a:solidFill>
                  <a:srgbClr val="FFFFFF"/>
                </a:solidFill>
              </a:rPr>
              <a:t>1</a:t>
            </a:r>
          </a:p>
        </p:txBody>
      </p:sp>
      <p:sp>
        <p:nvSpPr>
          <p:cNvPr id="9" name="TextBox 8"/>
          <p:cNvSpPr txBox="1"/>
          <p:nvPr/>
        </p:nvSpPr>
        <p:spPr>
          <a:xfrm>
            <a:off x="288036" y="3017520"/>
            <a:ext cx="1554480" cy="548640"/>
          </a:xfrm>
          <a:prstGeom prst="rect">
            <a:avLst/>
          </a:prstGeom>
          <a:noFill/>
        </p:spPr>
        <p:txBody>
          <a:bodyPr wrap="square">
            <a:spAutoFit/>
          </a:bodyPr>
          <a:lstStyle/>
          <a:p>
            <a:pPr algn="ctr"/>
            <a:r>
              <a:rPr sz="1400" b="1" i="0">
                <a:solidFill>
                  <a:srgbClr val="FFFFFF"/>
                </a:solidFill>
              </a:rPr>
              <a:t>Import</a:t>
            </a:r>
          </a:p>
        </p:txBody>
      </p:sp>
      <p:sp>
        <p:nvSpPr>
          <p:cNvPr id="10" name="TextBox 9"/>
          <p:cNvSpPr txBox="1"/>
          <p:nvPr/>
        </p:nvSpPr>
        <p:spPr>
          <a:xfrm>
            <a:off x="288036" y="3703320"/>
            <a:ext cx="1554480" cy="1645920"/>
          </a:xfrm>
          <a:prstGeom prst="rect">
            <a:avLst/>
          </a:prstGeom>
          <a:noFill/>
        </p:spPr>
        <p:txBody>
          <a:bodyPr wrap="square">
            <a:spAutoFit/>
          </a:bodyPr>
          <a:lstStyle/>
          <a:p>
            <a:pPr algn="ctr"/>
            <a:r>
              <a:rPr sz="1100" b="0" i="0">
                <a:solidFill>
                  <a:srgbClr val="D6E4F7"/>
                </a:solidFill>
              </a:rPr>
              <a:t>Connect to Azure DevOps
and import the work item
hierarchy</a:t>
            </a:r>
          </a:p>
        </p:txBody>
      </p:sp>
      <p:sp>
        <p:nvSpPr>
          <p:cNvPr id="11" name="TextBox 10"/>
          <p:cNvSpPr txBox="1"/>
          <p:nvPr/>
        </p:nvSpPr>
        <p:spPr>
          <a:xfrm>
            <a:off x="2025396" y="3611880"/>
            <a:ext cx="182880" cy="274320"/>
          </a:xfrm>
          <a:prstGeom prst="rect">
            <a:avLst/>
          </a:prstGeom>
          <a:noFill/>
        </p:spPr>
        <p:txBody>
          <a:bodyPr wrap="square">
            <a:spAutoFit/>
          </a:bodyPr>
          <a:lstStyle/>
          <a:p>
            <a:pPr algn="ctr"/>
            <a:r>
              <a:rPr sz="2200" b="1" i="0">
                <a:solidFill>
                  <a:srgbClr val="1A3A6B"/>
                </a:solidFill>
              </a:rPr>
              <a:t>→</a:t>
            </a:r>
          </a:p>
        </p:txBody>
      </p:sp>
      <p:sp>
        <p:nvSpPr>
          <p:cNvPr id="12" name="Rectangle 11"/>
          <p:cNvSpPr/>
          <p:nvPr/>
        </p:nvSpPr>
        <p:spPr>
          <a:xfrm>
            <a:off x="2208276" y="2011680"/>
            <a:ext cx="1737360" cy="3474720"/>
          </a:xfrm>
          <a:prstGeom prst="rect">
            <a:avLst/>
          </a:prstGeom>
          <a:solidFill>
            <a:srgbClr val="2B579A"/>
          </a:solidFill>
          <a:ln>
            <a:solidFill>
              <a:srgbClr val="2B57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56916" y="2176272"/>
            <a:ext cx="640080" cy="640080"/>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56916" y="2176272"/>
            <a:ext cx="640080" cy="640080"/>
          </a:xfrm>
          <a:prstGeom prst="rect">
            <a:avLst/>
          </a:prstGeom>
          <a:noFill/>
        </p:spPr>
        <p:txBody>
          <a:bodyPr wrap="square">
            <a:spAutoFit/>
          </a:bodyPr>
          <a:lstStyle/>
          <a:p>
            <a:pPr algn="ctr"/>
            <a:r>
              <a:rPr sz="2000" b="1" i="0">
                <a:solidFill>
                  <a:srgbClr val="FFFFFF"/>
                </a:solidFill>
              </a:rPr>
              <a:t>2</a:t>
            </a:r>
          </a:p>
        </p:txBody>
      </p:sp>
      <p:sp>
        <p:nvSpPr>
          <p:cNvPr id="15" name="TextBox 14"/>
          <p:cNvSpPr txBox="1"/>
          <p:nvPr/>
        </p:nvSpPr>
        <p:spPr>
          <a:xfrm>
            <a:off x="2299716" y="3017520"/>
            <a:ext cx="1554480" cy="548640"/>
          </a:xfrm>
          <a:prstGeom prst="rect">
            <a:avLst/>
          </a:prstGeom>
          <a:noFill/>
        </p:spPr>
        <p:txBody>
          <a:bodyPr wrap="square">
            <a:spAutoFit/>
          </a:bodyPr>
          <a:lstStyle/>
          <a:p>
            <a:pPr algn="ctr"/>
            <a:r>
              <a:rPr sz="1400" b="1" i="0">
                <a:solidFill>
                  <a:srgbClr val="FFFFFF"/>
                </a:solidFill>
              </a:rPr>
              <a:t>Plan</a:t>
            </a:r>
          </a:p>
        </p:txBody>
      </p:sp>
      <p:sp>
        <p:nvSpPr>
          <p:cNvPr id="16" name="TextBox 15"/>
          <p:cNvSpPr txBox="1"/>
          <p:nvPr/>
        </p:nvSpPr>
        <p:spPr>
          <a:xfrm>
            <a:off x="2299716" y="3703320"/>
            <a:ext cx="1554480" cy="1645920"/>
          </a:xfrm>
          <a:prstGeom prst="rect">
            <a:avLst/>
          </a:prstGeom>
          <a:noFill/>
        </p:spPr>
        <p:txBody>
          <a:bodyPr wrap="square">
            <a:spAutoFit/>
          </a:bodyPr>
          <a:lstStyle/>
          <a:p>
            <a:pPr algn="ctr"/>
            <a:r>
              <a:rPr sz="1100" b="0" i="0">
                <a:solidFill>
                  <a:srgbClr val="D6E4F7"/>
                </a:solidFill>
              </a:rPr>
              <a:t>Adjust dates, duration,
resources and dependencies
in the schedule</a:t>
            </a:r>
          </a:p>
        </p:txBody>
      </p:sp>
      <p:sp>
        <p:nvSpPr>
          <p:cNvPr id="17" name="TextBox 16"/>
          <p:cNvSpPr txBox="1"/>
          <p:nvPr/>
        </p:nvSpPr>
        <p:spPr>
          <a:xfrm>
            <a:off x="4037076" y="3611880"/>
            <a:ext cx="182880" cy="274320"/>
          </a:xfrm>
          <a:prstGeom prst="rect">
            <a:avLst/>
          </a:prstGeom>
          <a:noFill/>
        </p:spPr>
        <p:txBody>
          <a:bodyPr wrap="square">
            <a:spAutoFit/>
          </a:bodyPr>
          <a:lstStyle/>
          <a:p>
            <a:pPr algn="ctr"/>
            <a:r>
              <a:rPr sz="2200" b="1" i="0">
                <a:solidFill>
                  <a:srgbClr val="1A3A6B"/>
                </a:solidFill>
              </a:rPr>
              <a:t>→</a:t>
            </a:r>
          </a:p>
        </p:txBody>
      </p:sp>
      <p:sp>
        <p:nvSpPr>
          <p:cNvPr id="18" name="Rectangle 17"/>
          <p:cNvSpPr/>
          <p:nvPr/>
        </p:nvSpPr>
        <p:spPr>
          <a:xfrm>
            <a:off x="4219956" y="2011680"/>
            <a:ext cx="1737360" cy="3474720"/>
          </a:xfrm>
          <a:prstGeom prst="rect">
            <a:avLst/>
          </a:prstGeom>
          <a:solidFill>
            <a:srgbClr val="2B579A"/>
          </a:solidFill>
          <a:ln>
            <a:solidFill>
              <a:srgbClr val="2B57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768596" y="2176272"/>
            <a:ext cx="640080" cy="640080"/>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68596" y="2176272"/>
            <a:ext cx="640080" cy="640080"/>
          </a:xfrm>
          <a:prstGeom prst="rect">
            <a:avLst/>
          </a:prstGeom>
          <a:noFill/>
        </p:spPr>
        <p:txBody>
          <a:bodyPr wrap="square">
            <a:spAutoFit/>
          </a:bodyPr>
          <a:lstStyle/>
          <a:p>
            <a:pPr algn="ctr"/>
            <a:r>
              <a:rPr sz="2000" b="1" i="0">
                <a:solidFill>
                  <a:srgbClr val="FFFFFF"/>
                </a:solidFill>
              </a:rPr>
              <a:t>3</a:t>
            </a:r>
          </a:p>
        </p:txBody>
      </p:sp>
      <p:sp>
        <p:nvSpPr>
          <p:cNvPr id="21" name="TextBox 20"/>
          <p:cNvSpPr txBox="1"/>
          <p:nvPr/>
        </p:nvSpPr>
        <p:spPr>
          <a:xfrm>
            <a:off x="4311396" y="3017520"/>
            <a:ext cx="1554480" cy="548640"/>
          </a:xfrm>
          <a:prstGeom prst="rect">
            <a:avLst/>
          </a:prstGeom>
          <a:noFill/>
        </p:spPr>
        <p:txBody>
          <a:bodyPr wrap="square">
            <a:spAutoFit/>
          </a:bodyPr>
          <a:lstStyle/>
          <a:p>
            <a:pPr algn="ctr"/>
            <a:r>
              <a:rPr sz="1400" b="1" i="0">
                <a:solidFill>
                  <a:srgbClr val="FFFFFF"/>
                </a:solidFill>
              </a:rPr>
              <a:t>Visualize</a:t>
            </a:r>
          </a:p>
        </p:txBody>
      </p:sp>
      <p:sp>
        <p:nvSpPr>
          <p:cNvPr id="22" name="TextBox 21"/>
          <p:cNvSpPr txBox="1"/>
          <p:nvPr/>
        </p:nvSpPr>
        <p:spPr>
          <a:xfrm>
            <a:off x="4311396" y="3703320"/>
            <a:ext cx="1554480" cy="1645920"/>
          </a:xfrm>
          <a:prstGeom prst="rect">
            <a:avLst/>
          </a:prstGeom>
          <a:noFill/>
        </p:spPr>
        <p:txBody>
          <a:bodyPr wrap="square">
            <a:spAutoFit/>
          </a:bodyPr>
          <a:lstStyle/>
          <a:p>
            <a:pPr algn="ctr"/>
            <a:r>
              <a:rPr sz="1100" b="0" i="0">
                <a:solidFill>
                  <a:srgbClr val="D6E4F7"/>
                </a:solidFill>
              </a:rPr>
              <a:t>Track dates, milestones
and resource allocation
in the Gantt</a:t>
            </a:r>
          </a:p>
        </p:txBody>
      </p:sp>
      <p:sp>
        <p:nvSpPr>
          <p:cNvPr id="23" name="TextBox 22"/>
          <p:cNvSpPr txBox="1"/>
          <p:nvPr/>
        </p:nvSpPr>
        <p:spPr>
          <a:xfrm>
            <a:off x="6048756" y="3611880"/>
            <a:ext cx="182880" cy="274320"/>
          </a:xfrm>
          <a:prstGeom prst="rect">
            <a:avLst/>
          </a:prstGeom>
          <a:noFill/>
        </p:spPr>
        <p:txBody>
          <a:bodyPr wrap="square">
            <a:spAutoFit/>
          </a:bodyPr>
          <a:lstStyle/>
          <a:p>
            <a:pPr algn="ctr"/>
            <a:r>
              <a:rPr sz="2200" b="1" i="0">
                <a:solidFill>
                  <a:srgbClr val="1A3A6B"/>
                </a:solidFill>
              </a:rPr>
              <a:t>→</a:t>
            </a:r>
          </a:p>
        </p:txBody>
      </p:sp>
      <p:sp>
        <p:nvSpPr>
          <p:cNvPr id="24" name="Rectangle 23"/>
          <p:cNvSpPr/>
          <p:nvPr/>
        </p:nvSpPr>
        <p:spPr>
          <a:xfrm>
            <a:off x="6231636" y="2011680"/>
            <a:ext cx="1737360" cy="3474720"/>
          </a:xfrm>
          <a:prstGeom prst="rect">
            <a:avLst/>
          </a:prstGeom>
          <a:solidFill>
            <a:srgbClr val="2B579A"/>
          </a:solidFill>
          <a:ln>
            <a:solidFill>
              <a:srgbClr val="2B57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780276" y="2176272"/>
            <a:ext cx="640080" cy="640080"/>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80276" y="2176272"/>
            <a:ext cx="640080" cy="640080"/>
          </a:xfrm>
          <a:prstGeom prst="rect">
            <a:avLst/>
          </a:prstGeom>
          <a:noFill/>
        </p:spPr>
        <p:txBody>
          <a:bodyPr wrap="square">
            <a:spAutoFit/>
          </a:bodyPr>
          <a:lstStyle/>
          <a:p>
            <a:pPr algn="ctr"/>
            <a:r>
              <a:rPr sz="2000" b="1" i="0">
                <a:solidFill>
                  <a:srgbClr val="FFFFFF"/>
                </a:solidFill>
              </a:rPr>
              <a:t>4</a:t>
            </a:r>
          </a:p>
        </p:txBody>
      </p:sp>
      <p:sp>
        <p:nvSpPr>
          <p:cNvPr id="27" name="TextBox 26"/>
          <p:cNvSpPr txBox="1"/>
          <p:nvPr/>
        </p:nvSpPr>
        <p:spPr>
          <a:xfrm>
            <a:off x="6323076" y="3017520"/>
            <a:ext cx="1554480" cy="548640"/>
          </a:xfrm>
          <a:prstGeom prst="rect">
            <a:avLst/>
          </a:prstGeom>
          <a:noFill/>
        </p:spPr>
        <p:txBody>
          <a:bodyPr wrap="square">
            <a:spAutoFit/>
          </a:bodyPr>
          <a:lstStyle/>
          <a:p>
            <a:pPr algn="ctr"/>
            <a:r>
              <a:rPr sz="1400" b="1" i="0">
                <a:solidFill>
                  <a:srgbClr val="FFFFFF"/>
                </a:solidFill>
              </a:rPr>
              <a:t>Execute</a:t>
            </a:r>
          </a:p>
        </p:txBody>
      </p:sp>
      <p:sp>
        <p:nvSpPr>
          <p:cNvPr id="28" name="TextBox 27"/>
          <p:cNvSpPr txBox="1"/>
          <p:nvPr/>
        </p:nvSpPr>
        <p:spPr>
          <a:xfrm>
            <a:off x="6323076" y="3703320"/>
            <a:ext cx="1554480" cy="1645920"/>
          </a:xfrm>
          <a:prstGeom prst="rect">
            <a:avLst/>
          </a:prstGeom>
          <a:noFill/>
        </p:spPr>
        <p:txBody>
          <a:bodyPr wrap="square">
            <a:spAutoFit/>
          </a:bodyPr>
          <a:lstStyle/>
          <a:p>
            <a:pPr algn="ctr"/>
            <a:r>
              <a:rPr sz="1100" b="0" i="0">
                <a:solidFill>
                  <a:srgbClr val="D6E4F7"/>
                </a:solidFill>
              </a:rPr>
              <a:t>The team details the Tasks
and runs the day to day
in the TaskBoard</a:t>
            </a:r>
          </a:p>
        </p:txBody>
      </p:sp>
      <p:sp>
        <p:nvSpPr>
          <p:cNvPr id="29" name="TextBox 28"/>
          <p:cNvSpPr txBox="1"/>
          <p:nvPr/>
        </p:nvSpPr>
        <p:spPr>
          <a:xfrm>
            <a:off x="8060436" y="3611880"/>
            <a:ext cx="182880" cy="274320"/>
          </a:xfrm>
          <a:prstGeom prst="rect">
            <a:avLst/>
          </a:prstGeom>
          <a:noFill/>
        </p:spPr>
        <p:txBody>
          <a:bodyPr wrap="square">
            <a:spAutoFit/>
          </a:bodyPr>
          <a:lstStyle/>
          <a:p>
            <a:pPr algn="ctr"/>
            <a:r>
              <a:rPr sz="2200" b="1" i="0">
                <a:solidFill>
                  <a:srgbClr val="1A3A6B"/>
                </a:solidFill>
              </a:rPr>
              <a:t>→</a:t>
            </a:r>
          </a:p>
        </p:txBody>
      </p:sp>
      <p:sp>
        <p:nvSpPr>
          <p:cNvPr id="30" name="Rectangle 29"/>
          <p:cNvSpPr/>
          <p:nvPr/>
        </p:nvSpPr>
        <p:spPr>
          <a:xfrm>
            <a:off x="8243316" y="2011680"/>
            <a:ext cx="1737360" cy="3474720"/>
          </a:xfrm>
          <a:prstGeom prst="rect">
            <a:avLst/>
          </a:prstGeom>
          <a:solidFill>
            <a:srgbClr val="2B579A"/>
          </a:solidFill>
          <a:ln>
            <a:solidFill>
              <a:srgbClr val="2B57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791956" y="2176272"/>
            <a:ext cx="640080" cy="640080"/>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791956" y="2176272"/>
            <a:ext cx="640080" cy="640080"/>
          </a:xfrm>
          <a:prstGeom prst="rect">
            <a:avLst/>
          </a:prstGeom>
          <a:noFill/>
        </p:spPr>
        <p:txBody>
          <a:bodyPr wrap="square">
            <a:spAutoFit/>
          </a:bodyPr>
          <a:lstStyle/>
          <a:p>
            <a:pPr algn="ctr"/>
            <a:r>
              <a:rPr sz="2000" b="1" i="0">
                <a:solidFill>
                  <a:srgbClr val="FFFFFF"/>
                </a:solidFill>
              </a:rPr>
              <a:t>5</a:t>
            </a:r>
          </a:p>
        </p:txBody>
      </p:sp>
      <p:sp>
        <p:nvSpPr>
          <p:cNvPr id="33" name="TextBox 32"/>
          <p:cNvSpPr txBox="1"/>
          <p:nvPr/>
        </p:nvSpPr>
        <p:spPr>
          <a:xfrm>
            <a:off x="8334756" y="3017520"/>
            <a:ext cx="1554480" cy="548640"/>
          </a:xfrm>
          <a:prstGeom prst="rect">
            <a:avLst/>
          </a:prstGeom>
          <a:noFill/>
        </p:spPr>
        <p:txBody>
          <a:bodyPr wrap="square">
            <a:spAutoFit/>
          </a:bodyPr>
          <a:lstStyle/>
          <a:p>
            <a:pPr algn="ctr"/>
            <a:r>
              <a:rPr sz="1400" b="1" i="0">
                <a:solidFill>
                  <a:srgbClr val="FFFFFF"/>
                </a:solidFill>
              </a:rPr>
              <a:t>Sync</a:t>
            </a:r>
          </a:p>
        </p:txBody>
      </p:sp>
      <p:sp>
        <p:nvSpPr>
          <p:cNvPr id="34" name="TextBox 33"/>
          <p:cNvSpPr txBox="1"/>
          <p:nvPr/>
        </p:nvSpPr>
        <p:spPr>
          <a:xfrm>
            <a:off x="8334756" y="3703320"/>
            <a:ext cx="1554480" cy="1645920"/>
          </a:xfrm>
          <a:prstGeom prst="rect">
            <a:avLst/>
          </a:prstGeom>
          <a:noFill/>
        </p:spPr>
        <p:txBody>
          <a:bodyPr wrap="square">
            <a:spAutoFit/>
          </a:bodyPr>
          <a:lstStyle/>
          <a:p>
            <a:pPr algn="ctr"/>
            <a:r>
              <a:rPr sz="1100" b="0" i="0">
                <a:solidFill>
                  <a:srgbClr val="D6E4F7"/>
                </a:solidFill>
              </a:rPr>
              <a:t>Send dates, hours, states
and new work items back
to DevOps</a:t>
            </a:r>
          </a:p>
        </p:txBody>
      </p:sp>
      <p:sp>
        <p:nvSpPr>
          <p:cNvPr id="35" name="TextBox 34"/>
          <p:cNvSpPr txBox="1"/>
          <p:nvPr/>
        </p:nvSpPr>
        <p:spPr>
          <a:xfrm>
            <a:off x="10072116" y="3611880"/>
            <a:ext cx="182880" cy="274320"/>
          </a:xfrm>
          <a:prstGeom prst="rect">
            <a:avLst/>
          </a:prstGeom>
          <a:noFill/>
        </p:spPr>
        <p:txBody>
          <a:bodyPr wrap="square">
            <a:spAutoFit/>
          </a:bodyPr>
          <a:lstStyle/>
          <a:p>
            <a:pPr algn="ctr"/>
            <a:r>
              <a:rPr sz="2200" b="1" i="0">
                <a:solidFill>
                  <a:srgbClr val="1A3A6B"/>
                </a:solidFill>
              </a:rPr>
              <a:t>→</a:t>
            </a:r>
          </a:p>
        </p:txBody>
      </p:sp>
      <p:sp>
        <p:nvSpPr>
          <p:cNvPr id="36" name="Rectangle 35"/>
          <p:cNvSpPr/>
          <p:nvPr/>
        </p:nvSpPr>
        <p:spPr>
          <a:xfrm>
            <a:off x="10254996" y="2011680"/>
            <a:ext cx="1737360" cy="3474720"/>
          </a:xfrm>
          <a:prstGeom prst="rect">
            <a:avLst/>
          </a:prstGeom>
          <a:solidFill>
            <a:srgbClr val="2B579A"/>
          </a:solidFill>
          <a:ln>
            <a:solidFill>
              <a:srgbClr val="2B57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803636" y="2176272"/>
            <a:ext cx="640080" cy="640080"/>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803636" y="2176272"/>
            <a:ext cx="640080" cy="640080"/>
          </a:xfrm>
          <a:prstGeom prst="rect">
            <a:avLst/>
          </a:prstGeom>
          <a:noFill/>
        </p:spPr>
        <p:txBody>
          <a:bodyPr wrap="square">
            <a:spAutoFit/>
          </a:bodyPr>
          <a:lstStyle/>
          <a:p>
            <a:pPr algn="ctr"/>
            <a:r>
              <a:rPr sz="2000" b="1" i="0">
                <a:solidFill>
                  <a:srgbClr val="FFFFFF"/>
                </a:solidFill>
              </a:rPr>
              <a:t>6</a:t>
            </a:r>
          </a:p>
        </p:txBody>
      </p:sp>
      <p:sp>
        <p:nvSpPr>
          <p:cNvPr id="39" name="TextBox 38"/>
          <p:cNvSpPr txBox="1"/>
          <p:nvPr/>
        </p:nvSpPr>
        <p:spPr>
          <a:xfrm>
            <a:off x="10346436" y="3017520"/>
            <a:ext cx="1554480" cy="548640"/>
          </a:xfrm>
          <a:prstGeom prst="rect">
            <a:avLst/>
          </a:prstGeom>
          <a:noFill/>
        </p:spPr>
        <p:txBody>
          <a:bodyPr wrap="square">
            <a:spAutoFit/>
          </a:bodyPr>
          <a:lstStyle/>
          <a:p>
            <a:pPr algn="ctr"/>
            <a:r>
              <a:rPr sz="1400" b="1" i="0">
                <a:solidFill>
                  <a:srgbClr val="FFFFFF"/>
                </a:solidFill>
              </a:rPr>
              <a:t>Monitor</a:t>
            </a:r>
          </a:p>
        </p:txBody>
      </p:sp>
      <p:sp>
        <p:nvSpPr>
          <p:cNvPr id="40" name="TextBox 39"/>
          <p:cNvSpPr txBox="1"/>
          <p:nvPr/>
        </p:nvSpPr>
        <p:spPr>
          <a:xfrm>
            <a:off x="10346436" y="3703320"/>
            <a:ext cx="1554480" cy="1645920"/>
          </a:xfrm>
          <a:prstGeom prst="rect">
            <a:avLst/>
          </a:prstGeom>
          <a:noFill/>
        </p:spPr>
        <p:txBody>
          <a:bodyPr wrap="square">
            <a:spAutoFit/>
          </a:bodyPr>
          <a:lstStyle/>
          <a:p>
            <a:pPr algn="ctr"/>
            <a:r>
              <a:rPr sz="1100" b="0" i="0">
                <a:solidFill>
                  <a:srgbClr val="D6E4F7"/>
                </a:solidFill>
              </a:rPr>
              <a:t>Automatic Health Check
alerts delays, blockers
and overloads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solidFill>
              <a:srgbClr val="F4F6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8872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88720"/>
            <a:ext cx="64008" cy="5669280"/>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0972800" cy="731520"/>
          </a:xfrm>
          <a:prstGeom prst="rect">
            <a:avLst/>
          </a:prstGeom>
          <a:noFill/>
        </p:spPr>
        <p:txBody>
          <a:bodyPr wrap="square">
            <a:spAutoFit/>
          </a:bodyPr>
          <a:lstStyle/>
          <a:p>
            <a:pPr algn="l"/>
            <a:r>
              <a:rPr sz="2800" b="1" i="0">
                <a:solidFill>
                  <a:srgbClr val="FFFFFF"/>
                </a:solidFill>
              </a:rPr>
              <a:t>Who NXProject is for</a:t>
            </a:r>
          </a:p>
        </p:txBody>
      </p:sp>
      <p:sp>
        <p:nvSpPr>
          <p:cNvPr id="6" name="Rectangle 5"/>
          <p:cNvSpPr/>
          <p:nvPr/>
        </p:nvSpPr>
        <p:spPr>
          <a:xfrm>
            <a:off x="457200" y="1554480"/>
            <a:ext cx="2651760" cy="4663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54480"/>
            <a:ext cx="2651760" cy="54864"/>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737360"/>
            <a:ext cx="2651760" cy="640080"/>
          </a:xfrm>
          <a:prstGeom prst="rect">
            <a:avLst/>
          </a:prstGeom>
          <a:noFill/>
        </p:spPr>
        <p:txBody>
          <a:bodyPr wrap="square">
            <a:spAutoFit/>
          </a:bodyPr>
          <a:lstStyle/>
          <a:p>
            <a:pPr algn="ctr"/>
            <a:r>
              <a:rPr sz="3400" b="0" i="0">
                <a:solidFill>
                  <a:srgbClr val="2D2D2D"/>
                </a:solidFill>
              </a:rPr>
              <a:t>🧑‍💼</a:t>
            </a:r>
          </a:p>
        </p:txBody>
      </p:sp>
      <p:sp>
        <p:nvSpPr>
          <p:cNvPr id="9" name="TextBox 8"/>
          <p:cNvSpPr txBox="1"/>
          <p:nvPr/>
        </p:nvSpPr>
        <p:spPr>
          <a:xfrm>
            <a:off x="548640" y="2468880"/>
            <a:ext cx="2468880" cy="731520"/>
          </a:xfrm>
          <a:prstGeom prst="rect">
            <a:avLst/>
          </a:prstGeom>
          <a:noFill/>
        </p:spPr>
        <p:txBody>
          <a:bodyPr wrap="square">
            <a:spAutoFit/>
          </a:bodyPr>
          <a:lstStyle/>
          <a:p>
            <a:pPr algn="ctr"/>
            <a:r>
              <a:rPr sz="1400" b="1" i="0">
                <a:solidFill>
                  <a:srgbClr val="1A3A6B"/>
                </a:solidFill>
              </a:rPr>
              <a:t>Project
Manager</a:t>
            </a:r>
          </a:p>
        </p:txBody>
      </p:sp>
      <p:sp>
        <p:nvSpPr>
          <p:cNvPr id="10" name="TextBox 9"/>
          <p:cNvSpPr txBox="1"/>
          <p:nvPr/>
        </p:nvSpPr>
        <p:spPr>
          <a:xfrm>
            <a:off x="594360" y="3291840"/>
            <a:ext cx="2377440" cy="2743200"/>
          </a:xfrm>
          <a:prstGeom prst="rect">
            <a:avLst/>
          </a:prstGeom>
          <a:noFill/>
        </p:spPr>
        <p:txBody>
          <a:bodyPr wrap="square">
            <a:spAutoFit/>
          </a:bodyPr>
          <a:lstStyle/>
          <a:p>
            <a:pPr algn="ctr"/>
            <a:r>
              <a:rPr sz="1100" b="0" i="0">
                <a:solidFill>
                  <a:srgbClr val="555F6E"/>
                </a:solidFill>
              </a:rPr>
              <a:t>Schedule integrated with the backlog, delay alerts, dependency view and negotiated dates.</a:t>
            </a:r>
          </a:p>
        </p:txBody>
      </p:sp>
      <p:sp>
        <p:nvSpPr>
          <p:cNvPr id="11" name="Rectangle 10"/>
          <p:cNvSpPr/>
          <p:nvPr/>
        </p:nvSpPr>
        <p:spPr>
          <a:xfrm>
            <a:off x="3383280" y="1554480"/>
            <a:ext cx="2651760" cy="4663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83280" y="1554480"/>
            <a:ext cx="2651760" cy="54864"/>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80" y="1737360"/>
            <a:ext cx="2651760" cy="640080"/>
          </a:xfrm>
          <a:prstGeom prst="rect">
            <a:avLst/>
          </a:prstGeom>
          <a:noFill/>
        </p:spPr>
        <p:txBody>
          <a:bodyPr wrap="square">
            <a:spAutoFit/>
          </a:bodyPr>
          <a:lstStyle/>
          <a:p>
            <a:pPr algn="ctr"/>
            <a:r>
              <a:rPr sz="3400" b="0" i="0">
                <a:solidFill>
                  <a:srgbClr val="2D2D2D"/>
                </a:solidFill>
              </a:rPr>
              <a:t>🔄</a:t>
            </a:r>
          </a:p>
        </p:txBody>
      </p:sp>
      <p:sp>
        <p:nvSpPr>
          <p:cNvPr id="14" name="TextBox 13"/>
          <p:cNvSpPr txBox="1"/>
          <p:nvPr/>
        </p:nvSpPr>
        <p:spPr>
          <a:xfrm>
            <a:off x="3474720" y="2468880"/>
            <a:ext cx="2468880" cy="731520"/>
          </a:xfrm>
          <a:prstGeom prst="rect">
            <a:avLst/>
          </a:prstGeom>
          <a:noFill/>
        </p:spPr>
        <p:txBody>
          <a:bodyPr wrap="square">
            <a:spAutoFit/>
          </a:bodyPr>
          <a:lstStyle/>
          <a:p>
            <a:pPr algn="ctr"/>
            <a:r>
              <a:rPr sz="1400" b="1" i="0">
                <a:solidFill>
                  <a:srgbClr val="1A3A6B"/>
                </a:solidFill>
              </a:rPr>
              <a:t>Scrum Master
/ RTE</a:t>
            </a:r>
          </a:p>
        </p:txBody>
      </p:sp>
      <p:sp>
        <p:nvSpPr>
          <p:cNvPr id="15" name="TextBox 14"/>
          <p:cNvSpPr txBox="1"/>
          <p:nvPr/>
        </p:nvSpPr>
        <p:spPr>
          <a:xfrm>
            <a:off x="3520440" y="3291840"/>
            <a:ext cx="2377440" cy="2743200"/>
          </a:xfrm>
          <a:prstGeom prst="rect">
            <a:avLst/>
          </a:prstGeom>
          <a:noFill/>
        </p:spPr>
        <p:txBody>
          <a:bodyPr wrap="square">
            <a:spAutoFit/>
          </a:bodyPr>
          <a:lstStyle/>
          <a:p>
            <a:pPr algn="ctr"/>
            <a:r>
              <a:rPr sz="1100" b="0" i="0">
                <a:solidFill>
                  <a:srgbClr val="555F6E"/>
                </a:solidFill>
              </a:rPr>
              <a:t>Sprint capacity, allocation conflicts, change impact and automatic cascade.</a:t>
            </a:r>
          </a:p>
        </p:txBody>
      </p:sp>
      <p:sp>
        <p:nvSpPr>
          <p:cNvPr id="16" name="Rectangle 15"/>
          <p:cNvSpPr/>
          <p:nvPr/>
        </p:nvSpPr>
        <p:spPr>
          <a:xfrm>
            <a:off x="6309360" y="1554480"/>
            <a:ext cx="2651760" cy="4663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09360" y="1554480"/>
            <a:ext cx="2651760" cy="54864"/>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1737360"/>
            <a:ext cx="2651760" cy="640080"/>
          </a:xfrm>
          <a:prstGeom prst="rect">
            <a:avLst/>
          </a:prstGeom>
          <a:noFill/>
        </p:spPr>
        <p:txBody>
          <a:bodyPr wrap="square">
            <a:spAutoFit/>
          </a:bodyPr>
          <a:lstStyle/>
          <a:p>
            <a:pPr algn="ctr"/>
            <a:r>
              <a:rPr sz="3400" b="0" i="0">
                <a:solidFill>
                  <a:srgbClr val="2D2D2D"/>
                </a:solidFill>
              </a:rPr>
              <a:t>💻</a:t>
            </a:r>
          </a:p>
        </p:txBody>
      </p:sp>
      <p:sp>
        <p:nvSpPr>
          <p:cNvPr id="19" name="TextBox 18"/>
          <p:cNvSpPr txBox="1"/>
          <p:nvPr/>
        </p:nvSpPr>
        <p:spPr>
          <a:xfrm>
            <a:off x="6400800" y="2468880"/>
            <a:ext cx="2468880" cy="731520"/>
          </a:xfrm>
          <a:prstGeom prst="rect">
            <a:avLst/>
          </a:prstGeom>
          <a:noFill/>
        </p:spPr>
        <p:txBody>
          <a:bodyPr wrap="square">
            <a:spAutoFit/>
          </a:bodyPr>
          <a:lstStyle/>
          <a:p>
            <a:pPr algn="ctr"/>
            <a:r>
              <a:rPr sz="1400" b="1" i="0">
                <a:solidFill>
                  <a:srgbClr val="1A3A6B"/>
                </a:solidFill>
              </a:rPr>
              <a:t>Tech Lead</a:t>
            </a:r>
          </a:p>
        </p:txBody>
      </p:sp>
      <p:sp>
        <p:nvSpPr>
          <p:cNvPr id="20" name="TextBox 19"/>
          <p:cNvSpPr txBox="1"/>
          <p:nvPr/>
        </p:nvSpPr>
        <p:spPr>
          <a:xfrm>
            <a:off x="6446520" y="3291840"/>
            <a:ext cx="2377440" cy="2743200"/>
          </a:xfrm>
          <a:prstGeom prst="rect">
            <a:avLst/>
          </a:prstGeom>
          <a:noFill/>
        </p:spPr>
        <p:txBody>
          <a:bodyPr wrap="square">
            <a:spAutoFit/>
          </a:bodyPr>
          <a:lstStyle/>
          <a:p>
            <a:pPr algn="ctr"/>
            <a:r>
              <a:rPr sz="1100" b="0" i="0">
                <a:solidFill>
                  <a:srgbClr val="555F6E"/>
                </a:solidFill>
              </a:rPr>
              <a:t>Feature and Story view with predecessors, hour estimates and traceability.</a:t>
            </a:r>
          </a:p>
        </p:txBody>
      </p:sp>
      <p:sp>
        <p:nvSpPr>
          <p:cNvPr id="21" name="Rectangle 20"/>
          <p:cNvSpPr/>
          <p:nvPr/>
        </p:nvSpPr>
        <p:spPr>
          <a:xfrm>
            <a:off x="9235440" y="1554480"/>
            <a:ext cx="2651760" cy="466344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235440" y="1554480"/>
            <a:ext cx="2651760" cy="54864"/>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35440" y="1737360"/>
            <a:ext cx="2651760" cy="640080"/>
          </a:xfrm>
          <a:prstGeom prst="rect">
            <a:avLst/>
          </a:prstGeom>
          <a:noFill/>
        </p:spPr>
        <p:txBody>
          <a:bodyPr wrap="square">
            <a:spAutoFit/>
          </a:bodyPr>
          <a:lstStyle/>
          <a:p>
            <a:pPr algn="ctr"/>
            <a:r>
              <a:rPr sz="3400" b="0" i="0">
                <a:solidFill>
                  <a:srgbClr val="2D2D2D"/>
                </a:solidFill>
              </a:rPr>
              <a:t>📊</a:t>
            </a:r>
          </a:p>
        </p:txBody>
      </p:sp>
      <p:sp>
        <p:nvSpPr>
          <p:cNvPr id="24" name="TextBox 23"/>
          <p:cNvSpPr txBox="1"/>
          <p:nvPr/>
        </p:nvSpPr>
        <p:spPr>
          <a:xfrm>
            <a:off x="9326880" y="2468880"/>
            <a:ext cx="2468880" cy="731520"/>
          </a:xfrm>
          <a:prstGeom prst="rect">
            <a:avLst/>
          </a:prstGeom>
          <a:noFill/>
        </p:spPr>
        <p:txBody>
          <a:bodyPr wrap="square">
            <a:spAutoFit/>
          </a:bodyPr>
          <a:lstStyle/>
          <a:p>
            <a:pPr algn="ctr"/>
            <a:r>
              <a:rPr sz="1400" b="1" i="0">
                <a:solidFill>
                  <a:srgbClr val="1A3A6B"/>
                </a:solidFill>
              </a:rPr>
              <a:t>Management
/ PMO</a:t>
            </a:r>
          </a:p>
        </p:txBody>
      </p:sp>
      <p:sp>
        <p:nvSpPr>
          <p:cNvPr id="25" name="TextBox 24"/>
          <p:cNvSpPr txBox="1"/>
          <p:nvPr/>
        </p:nvSpPr>
        <p:spPr>
          <a:xfrm>
            <a:off x="9372600" y="3291840"/>
            <a:ext cx="2377440" cy="2743200"/>
          </a:xfrm>
          <a:prstGeom prst="rect">
            <a:avLst/>
          </a:prstGeom>
          <a:noFill/>
        </p:spPr>
        <p:txBody>
          <a:bodyPr wrap="square">
            <a:spAutoFit/>
          </a:bodyPr>
          <a:lstStyle/>
          <a:p>
            <a:pPr algn="ctr"/>
            <a:r>
              <a:rPr sz="1100" b="0" i="0">
                <a:solidFill>
                  <a:srgbClr val="555F6E"/>
                </a:solidFill>
              </a:rPr>
              <a:t>Consolidated portfolio view, export to MS Project/Excel and executive Health Check.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00400"/>
            <a:ext cx="12188952" cy="64008"/>
          </a:xfrm>
          <a:prstGeom prst="rect">
            <a:avLst/>
          </a:prstGeom>
          <a:solidFill>
            <a:srgbClr val="E87B00"/>
          </a:solidFill>
          <a:ln>
            <a:solidFill>
              <a:srgbClr val="E8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914400"/>
            <a:ext cx="10332720" cy="914400"/>
          </a:xfrm>
          <a:prstGeom prst="rect">
            <a:avLst/>
          </a:prstGeom>
          <a:noFill/>
        </p:spPr>
        <p:txBody>
          <a:bodyPr wrap="square">
            <a:spAutoFit/>
          </a:bodyPr>
          <a:lstStyle/>
          <a:p>
            <a:pPr algn="ctr"/>
            <a:r>
              <a:rPr sz="2600" b="1" i="0">
                <a:solidFill>
                  <a:srgbClr val="FFFFFF"/>
                </a:solidFill>
              </a:rPr>
              <a:t>Turn your DevOps backlog into a manageable schedule.</a:t>
            </a:r>
          </a:p>
        </p:txBody>
      </p:sp>
      <p:sp>
        <p:nvSpPr>
          <p:cNvPr id="5" name="TextBox 4"/>
          <p:cNvSpPr txBox="1"/>
          <p:nvPr/>
        </p:nvSpPr>
        <p:spPr>
          <a:xfrm>
            <a:off x="1371600" y="2011680"/>
            <a:ext cx="9418320" cy="1005840"/>
          </a:xfrm>
          <a:prstGeom prst="rect">
            <a:avLst/>
          </a:prstGeom>
          <a:noFill/>
        </p:spPr>
        <p:txBody>
          <a:bodyPr wrap="square">
            <a:spAutoFit/>
          </a:bodyPr>
          <a:lstStyle/>
          <a:p>
            <a:pPr algn="ctr"/>
            <a:r>
              <a:rPr sz="1600" b="0" i="0">
                <a:solidFill>
                  <a:srgbClr val="D6E4F7"/>
                </a:solidFill>
              </a:rPr>
              <a:t>NXProject connects management and development — with transparency, automation and traceability — without changing the technical process.</a:t>
            </a:r>
          </a:p>
        </p:txBody>
      </p:sp>
      <p:sp>
        <p:nvSpPr>
          <p:cNvPr id="6" name="TextBox 5"/>
          <p:cNvSpPr txBox="1"/>
          <p:nvPr/>
        </p:nvSpPr>
        <p:spPr>
          <a:xfrm>
            <a:off x="914400" y="3566160"/>
            <a:ext cx="10332720" cy="640080"/>
          </a:xfrm>
          <a:prstGeom prst="rect">
            <a:avLst/>
          </a:prstGeom>
          <a:noFill/>
        </p:spPr>
        <p:txBody>
          <a:bodyPr wrap="square">
            <a:spAutoFit/>
          </a:bodyPr>
          <a:lstStyle/>
          <a:p>
            <a:pPr algn="ctr"/>
            <a:r>
              <a:rPr sz="2200" b="1" i="0">
                <a:solidFill>
                  <a:srgbClr val="E87B00"/>
                </a:solidFill>
              </a:rPr>
              <a:t>Request a demo</a:t>
            </a:r>
          </a:p>
        </p:txBody>
      </p:sp>
      <p:sp>
        <p:nvSpPr>
          <p:cNvPr id="7" name="TextBox 6"/>
          <p:cNvSpPr txBox="1"/>
          <p:nvPr/>
        </p:nvSpPr>
        <p:spPr>
          <a:xfrm>
            <a:off x="914400" y="4343400"/>
            <a:ext cx="10332720" cy="457200"/>
          </a:xfrm>
          <a:prstGeom prst="rect">
            <a:avLst/>
          </a:prstGeom>
          <a:noFill/>
        </p:spPr>
        <p:txBody>
          <a:bodyPr wrap="square">
            <a:spAutoFit/>
          </a:bodyPr>
          <a:lstStyle/>
          <a:p>
            <a:pPr algn="ctr"/>
            <a:r>
              <a:rPr sz="1400" b="0" i="0">
                <a:solidFill>
                  <a:srgbClr val="D6E4F7"/>
                </a:solidFill>
              </a:rPr>
              <a:t>comercial.nexus.xdata@gmail.com  •  nexusxdata.com.br</a:t>
            </a:r>
          </a:p>
        </p:txBody>
      </p:sp>
      <p:pic>
        <p:nvPicPr>
          <p:cNvPr id="8" name="Picture 7" descr="logo-nexus-xdata-transparent.png"/>
          <p:cNvPicPr>
            <a:picLocks noChangeAspect="1"/>
          </p:cNvPicPr>
          <p:nvPr/>
        </p:nvPicPr>
        <p:blipFill>
          <a:blip r:embed="rId2"/>
          <a:stretch>
            <a:fillRect/>
          </a:stretch>
        </p:blipFill>
        <p:spPr>
          <a:xfrm>
            <a:off x="5522976" y="5074920"/>
            <a:ext cx="1143000" cy="1143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