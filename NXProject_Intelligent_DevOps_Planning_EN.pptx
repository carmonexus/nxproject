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88952" cy="73152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</a:rPr>
              <a:t>NXProject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D6E4F7"/>
                </a:solidFill>
              </a:rPr>
              <a:t>Intelligent planning integrated with Azure DevOps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74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B0C8F0"/>
                </a:solidFill>
              </a:rPr>
              <a:t>From estimates to schedule — without leaving the technical backlog behind.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1264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7A9AC8"/>
                </a:solidFill>
              </a:rPr>
              <a:t>Nexus XData Tecnologia  •  nexusxdata.com.br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solidFill>
              <a:srgbClr val="F4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64008" cy="566928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problem NXProject solves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5486400" cy="20116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691640"/>
            <a:ext cx="5212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3A6B"/>
                </a:solidFill>
              </a:rPr>
              <a:t>📋  Rich backlog, missing schedule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555F6E"/>
                </a:solidFill>
              </a:rPr>
              <a:t>The technical team works in Azure DevOps, but management cannot
see dates, dependencies and allocation in one consolidated view.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554480"/>
            <a:ext cx="5486400" cy="20116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1691640"/>
            <a:ext cx="5212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3A6B"/>
                </a:solidFill>
              </a:rPr>
              <a:t>⚠️  Rework and parallel spreadsheets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555F6E"/>
                </a:solidFill>
              </a:rPr>
              <a:t>Managers maintain Excel sheets manually, out of sync with what the
team is actually doing in the backlog.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840480"/>
            <a:ext cx="5486400" cy="20116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3977640"/>
            <a:ext cx="5212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3A6B"/>
                </a:solidFill>
              </a:rPr>
              <a:t>🔗  Lack of traceability between planning and execution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555F6E"/>
                </a:solidFill>
              </a:rPr>
              <a:t>There is no direct link between the manager's estimate and the
developer's work item — every change requires double updates.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3840480"/>
            <a:ext cx="5486400" cy="20116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3977640"/>
            <a:ext cx="5212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3A6B"/>
                </a:solidFill>
              </a:rPr>
              <a:t>📅  Hard to replan quickly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555F6E"/>
                </a:solidFill>
              </a:rPr>
              <a:t>When a sprint slips, recalculating all dependencies and dates
manually is slow and error-prone.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solidFill>
              <a:srgbClr val="F4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64008" cy="566928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What NXProject is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1247120" cy="1371600"/>
          </a:xfrm>
          <a:prstGeom prst="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A planning layer on top of Azure DevOps that turns the technical backlog into a manageable schedule — with dates, dependencies, Gantt, resource allocation and bidirectional traceability — without changing the technical team's workflow.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971800"/>
            <a:ext cx="2194560" cy="34747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31546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2D2D2D"/>
                </a:solidFill>
              </a:rPr>
              <a:t>🗓️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657600"/>
            <a:ext cx="2011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A6B"/>
                </a:solidFill>
              </a:rPr>
              <a:t>Automatic
schedule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434840"/>
            <a:ext cx="1920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55F6E"/>
                </a:solidFill>
              </a:rPr>
              <a:t>Dates calculated from duration, work calendar, holidays and predecessors.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15184" y="2971800"/>
            <a:ext cx="2194560" cy="34747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15184" y="31546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2D2D2D"/>
                </a:solidFill>
              </a:rPr>
              <a:t>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06624" y="3657600"/>
            <a:ext cx="2011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A6B"/>
                </a:solidFill>
              </a:rPr>
              <a:t>Bidirectional
integration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52344" y="4434840"/>
            <a:ext cx="1920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55F6E"/>
                </a:solidFill>
              </a:rPr>
              <a:t>Imports and syncs with Azure DevOps: work items, sprints, owners and estimates.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56048" y="2971800"/>
            <a:ext cx="2194560" cy="34747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56048" y="31546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2D2D2D"/>
                </a:solidFill>
              </a:rPr>
              <a:t>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47488" y="3657600"/>
            <a:ext cx="2011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A6B"/>
                </a:solidFill>
              </a:rPr>
              <a:t>Interactive
Gantt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3208" y="4434840"/>
            <a:ext cx="1920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55F6E"/>
                </a:solidFill>
              </a:rPr>
              <a:t>Bar, dependency, milestone and timeline view with adjustable zoom.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96912" y="2971800"/>
            <a:ext cx="2194560" cy="34747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96912" y="31546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2D2D2D"/>
                </a:solidFill>
              </a:rPr>
              <a:t>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88352" y="3657600"/>
            <a:ext cx="2011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A6B"/>
                </a:solidFill>
              </a:rPr>
              <a:t>Resource
management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34072" y="4434840"/>
            <a:ext cx="1920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55F6E"/>
                </a:solidFill>
              </a:rPr>
              <a:t>Allocation view by person, overload detection and schedule conflict visibility.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37776" y="2971800"/>
            <a:ext cx="2194560" cy="34747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37776" y="31546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2D2D2D"/>
                </a:solidFill>
              </a:rPr>
              <a:t>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9216" y="3657600"/>
            <a:ext cx="2011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A6B"/>
                </a:solidFill>
              </a:rPr>
              <a:t>AI
assistant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74936" y="4434840"/>
            <a:ext cx="1920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55F6E"/>
                </a:solidFill>
              </a:rPr>
              <a:t>Suggests task structures and story breakdown from free text.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solidFill>
              <a:srgbClr val="F4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64008" cy="566928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Key features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365760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3657600" cy="411480"/>
          </a:xfrm>
          <a:prstGeom prst="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Azure DevOps import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892808"/>
            <a:ext cx="3429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55F6E"/>
                </a:solidFill>
              </a:rPr>
              <a:t>• Project → Epic → Feature → Story hierarchy
• Estimates, dates, sprints and owners
• Predecessors and blockers (Block tag)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417320"/>
            <a:ext cx="365760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417320"/>
            <a:ext cx="3657600" cy="411480"/>
          </a:xfrm>
          <a:prstGeom prst="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46304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Smart schedule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892808"/>
            <a:ext cx="3429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55F6E"/>
                </a:solidFill>
              </a:rPr>
              <a:t>• Automatic predecessor cascade
• Virtual predecessor by resource
• Calendar with holidays and working hours
• %Daily column: expected pace by today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417320"/>
            <a:ext cx="365760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1417320"/>
            <a:ext cx="3657600" cy="411480"/>
          </a:xfrm>
          <a:prstGeom prst="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146304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Gantt chart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1892808"/>
            <a:ext cx="3429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55F6E"/>
                </a:solidFill>
              </a:rPr>
              <a:t>• Bars, milestones and dependency arrows
• Zoom: Day, Week, Sprint, Month, Quarter
• Drag to visually replan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023360"/>
            <a:ext cx="365760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023360"/>
            <a:ext cx="3657600" cy="411480"/>
          </a:xfrm>
          <a:prstGeom prst="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06908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Resource management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498848"/>
            <a:ext cx="3429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55F6E"/>
                </a:solidFill>
              </a:rPr>
              <a:t>• Allocation by person and sprint
• Discover and import people from DevOps
• Cost per resource (import and compute)
• Overload alert (&gt;100%)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80" y="4023360"/>
            <a:ext cx="365760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80" y="4023360"/>
            <a:ext cx="3657600" cy="411480"/>
          </a:xfrm>
          <a:prstGeom prst="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34840" y="406908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Bidirectional sync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498848"/>
            <a:ext cx="3429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55F6E"/>
                </a:solidFill>
              </a:rPr>
              <a:t>• Dates, hours, state, sprint, tags and predecessors
• Creates new work items in DevOps
• Tech Lead review: create/edit tasks online
• Detailed synchronization report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0" y="4023360"/>
            <a:ext cx="365760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0" y="4023360"/>
            <a:ext cx="3657600" cy="411480"/>
          </a:xfrm>
          <a:prstGeom prst="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66760" y="406908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Health 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4498848"/>
            <a:ext cx="3429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55F6E"/>
                </a:solidFill>
              </a:rPr>
              <a:t>• Late activities (Finish &lt; today and % &lt; 100)
• %Daily vs reported % deviation
• Items without owner and circular dependencies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solidFill>
              <a:srgbClr val="F4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64008" cy="566928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Strategic benefits for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577840" cy="16002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64008" cy="160020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527048"/>
            <a:ext cx="5257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3A6B"/>
                </a:solidFill>
              </a:rPr>
              <a:t>🎯  Real visibility into IT projects</a:t>
            </a:r>
          </a:p>
          <a:p>
            <a:pPr algn="l">
              <a:spcBef>
                <a:spcPts val="500"/>
              </a:spcBef>
            </a:pPr>
            <a:r>
              <a:rPr sz="1050" b="0" i="0">
                <a:solidFill>
                  <a:srgbClr val="555F6E"/>
                </a:solidFill>
              </a:rPr>
              <a:t>A consolidated schedule with dates, dependencies and completion percentage — without relying on manual team reports.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417320"/>
            <a:ext cx="5577840" cy="16002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417320"/>
            <a:ext cx="64008" cy="160020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527048"/>
            <a:ext cx="5257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3A6B"/>
                </a:solidFill>
              </a:rPr>
              <a:t>⚡  Zero impact on technical workflow</a:t>
            </a:r>
          </a:p>
          <a:p>
            <a:pPr algn="l">
              <a:spcBef>
                <a:spcPts val="500"/>
              </a:spcBef>
            </a:pPr>
            <a:r>
              <a:rPr sz="1050" b="0" i="0">
                <a:solidFill>
                  <a:srgbClr val="555F6E"/>
                </a:solidFill>
              </a:rPr>
              <a:t>The team continues using Azure DevOps as before. NXProject is a reading and planning layer — no process change required.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154680"/>
            <a:ext cx="5577840" cy="16002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3154680"/>
            <a:ext cx="64008" cy="160020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264408"/>
            <a:ext cx="5257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3A6B"/>
                </a:solidFill>
              </a:rPr>
              <a:t>💰  Less rework and hidden cost</a:t>
            </a:r>
          </a:p>
          <a:p>
            <a:pPr algn="l">
              <a:spcBef>
                <a:spcPts val="500"/>
              </a:spcBef>
            </a:pPr>
            <a:r>
              <a:rPr sz="1050" b="0" i="0">
                <a:solidFill>
                  <a:srgbClr val="555F6E"/>
                </a:solidFill>
              </a:rPr>
              <a:t>Eliminates parallel spreadsheets, long status meetings and the cost of delays detected too late.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154680"/>
            <a:ext cx="5577840" cy="16002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154680"/>
            <a:ext cx="64008" cy="160020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264408"/>
            <a:ext cx="5257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3A6B"/>
                </a:solidFill>
              </a:rPr>
              <a:t>📈  Data-driven decisions</a:t>
            </a:r>
          </a:p>
          <a:p>
            <a:pPr algn="l">
              <a:spcBef>
                <a:spcPts val="500"/>
              </a:spcBef>
            </a:pPr>
            <a:r>
              <a:rPr sz="1050" b="0" i="0">
                <a:solidFill>
                  <a:srgbClr val="555F6E"/>
                </a:solidFill>
              </a:rPr>
              <a:t>Automatic Health Check, resource allocation and proactive delay alerts give management precise information for fast decisions.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892040"/>
            <a:ext cx="5577840" cy="16002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892040"/>
            <a:ext cx="64008" cy="160020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5001768"/>
            <a:ext cx="5257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3A6B"/>
                </a:solidFill>
              </a:rPr>
              <a:t>🔒  Security and control</a:t>
            </a:r>
          </a:p>
          <a:p>
            <a:pPr algn="l">
              <a:spcBef>
                <a:spcPts val="500"/>
              </a:spcBef>
            </a:pPr>
            <a:r>
              <a:rPr sz="1050" b="0" i="0">
                <a:solidFill>
                  <a:srgbClr val="555F6E"/>
                </a:solidFill>
              </a:rPr>
              <a:t>Azure DevOps credentials protected by DPAPI (Windows per-user encryption). Project data stays in a local file — no mandatory cloud.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4892040"/>
            <a:ext cx="5577840" cy="16002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4892040"/>
            <a:ext cx="64008" cy="160020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5001768"/>
            <a:ext cx="5257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3A6B"/>
                </a:solidFill>
              </a:rPr>
              <a:t>📦  Simple deployment</a:t>
            </a:r>
          </a:p>
          <a:p>
            <a:pPr algn="l">
              <a:spcBef>
                <a:spcPts val="500"/>
              </a:spcBef>
            </a:pPr>
            <a:r>
              <a:rPr sz="1050" b="0" i="0">
                <a:solidFill>
                  <a:srgbClr val="555F6E"/>
                </a:solidFill>
              </a:rPr>
              <a:t>Standalone installation (zero external dependencies), ready in minutes. No additional server infrastructure.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solidFill>
              <a:srgbClr val="F4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64008" cy="566928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How it works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333756" y="2011680"/>
            <a:ext cx="2011680" cy="3474720"/>
          </a:xfrm>
          <a:prstGeom prst="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19556" y="2176272"/>
            <a:ext cx="640080" cy="64008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9556" y="2176272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30175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Import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" y="370332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6E4F7"/>
                </a:solidFill>
              </a:rPr>
              <a:t>Connect to Azure DevOps
and import the work item
hierarchy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36876" y="36118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3A6B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1196" y="2011680"/>
            <a:ext cx="2011680" cy="3474720"/>
          </a:xfrm>
          <a:prstGeom prst="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96996" y="2176272"/>
            <a:ext cx="640080" cy="64008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96996" y="2176272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02636" y="30175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Plan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02636" y="370332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6E4F7"/>
                </a:solidFill>
              </a:rPr>
              <a:t>Adjust dates, duration,
resources and dependencies
in the schedule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14316" y="36118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3A6B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88636" y="2011680"/>
            <a:ext cx="2011680" cy="3474720"/>
          </a:xfrm>
          <a:prstGeom prst="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774436" y="2176272"/>
            <a:ext cx="640080" cy="64008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4436" y="2176272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0076" y="30175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Visualize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0076" y="370332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6E4F7"/>
                </a:solidFill>
              </a:rPr>
              <a:t>Track dates, milestones
and resource allocation
in the Gantt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91756" y="36118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3A6B"/>
                </a:solidFill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66076" y="2011680"/>
            <a:ext cx="2011680" cy="3474720"/>
          </a:xfrm>
          <a:prstGeom prst="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51876" y="2176272"/>
            <a:ext cx="640080" cy="64008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51876" y="2176272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57516" y="30175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Sync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57516" y="370332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6E4F7"/>
                </a:solidFill>
              </a:rPr>
              <a:t>Send dates, hours, states
and new work items back
to DevOps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69196" y="36118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3A6B"/>
                </a:solidFill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843516" y="2011680"/>
            <a:ext cx="2011680" cy="3474720"/>
          </a:xfrm>
          <a:prstGeom prst="rect">
            <a:avLst/>
          </a:prstGeom>
          <a:solidFill>
            <a:srgbClr val="2B579A"/>
          </a:solidFill>
          <a:ln>
            <a:solidFill>
              <a:srgbClr val="2B57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529316" y="2176272"/>
            <a:ext cx="640080" cy="64008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29316" y="2176272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34956" y="30175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Monitor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34956" y="370332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6E4F7"/>
                </a:solidFill>
              </a:rPr>
              <a:t>Automatic Health Check
alerts delays, blockers
and overloads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solidFill>
              <a:srgbClr val="F4F6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64008" cy="5669280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Who NXProject is for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2651760" cy="46634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2651760" cy="54864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0" i="0">
                <a:solidFill>
                  <a:srgbClr val="2D2D2D"/>
                </a:solidFill>
              </a:rPr>
              <a:t>🧑‍💼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6888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3A6B"/>
                </a:solidFill>
              </a:rPr>
              <a:t>Project
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291840"/>
            <a:ext cx="2377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F6E"/>
                </a:solidFill>
              </a:rPr>
              <a:t>Schedule integrated with the backlog, delay alerts, dependency view and negotiated dates.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1554480"/>
            <a:ext cx="2651760" cy="46634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554480"/>
            <a:ext cx="2651760" cy="54864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73736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0" i="0">
                <a:solidFill>
                  <a:srgbClr val="2D2D2D"/>
                </a:solidFill>
              </a:rPr>
              <a:t>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46888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3A6B"/>
                </a:solidFill>
              </a:rPr>
              <a:t>Scrum Master
/ RTE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3291840"/>
            <a:ext cx="2377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F6E"/>
                </a:solidFill>
              </a:rPr>
              <a:t>Sprint capacity, allocation conflicts, change impact and automatic cascade.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554480"/>
            <a:ext cx="2651760" cy="46634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554480"/>
            <a:ext cx="2651760" cy="54864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73736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0" i="0">
                <a:solidFill>
                  <a:srgbClr val="2D2D2D"/>
                </a:solidFill>
              </a:rPr>
              <a:t>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46888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3A6B"/>
                </a:solidFill>
              </a:rPr>
              <a:t>Tech Lead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291840"/>
            <a:ext cx="2377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F6E"/>
                </a:solidFill>
              </a:rPr>
              <a:t>Feature and Story view with predecessors, hour estimates and traceability.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1554480"/>
            <a:ext cx="2651760" cy="46634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35440" y="1554480"/>
            <a:ext cx="2651760" cy="54864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0" y="173736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0" i="0">
                <a:solidFill>
                  <a:srgbClr val="2D2D2D"/>
                </a:solidFill>
              </a:rPr>
              <a:t>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246888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3A6B"/>
                </a:solidFill>
              </a:rPr>
              <a:t>Management
/ PMO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600" y="3291840"/>
            <a:ext cx="2377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F6E"/>
                </a:solidFill>
              </a:rPr>
              <a:t>Consolidated portfolio view, export to MS Project/Excel and executive Health Check.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64008"/>
          </a:xfrm>
          <a:prstGeom prst="rect">
            <a:avLst/>
          </a:prstGeom>
          <a:solidFill>
            <a:srgbClr val="E87B00"/>
          </a:solidFill>
          <a:ln>
            <a:solidFill>
              <a:srgbClr val="E8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Turn your DevOps backlog into a manageable schedule.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9418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D6E4F7"/>
                </a:solidFill>
              </a:rPr>
              <a:t>NXProject connects management and development — with transparency, automation and traceability — without changing the technical process.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E87B00"/>
                </a:solidFill>
              </a:rPr>
              <a:t>Request a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6E4F7"/>
                </a:solidFill>
              </a:rPr>
              <a:t>comercial.nexus.xdata@gmail.com  •  nexusxdata.com.br</a:t>
            </a:r>
          </a:p>
        </p:txBody>
      </p:sp>
      <p:pic>
        <p:nvPicPr>
          <p:cNvPr id="8" name="Picture 7" descr="logo-nexus-xdata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2976" y="5074920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